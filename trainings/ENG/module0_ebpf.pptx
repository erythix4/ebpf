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486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0: eBPF Foundation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• bpftrace • Verifier • Environment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926080"/>
            <a:ext cx="4572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handout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Prerequisites: Linux basics (shell, processes, networking)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93776" cy="69494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493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83210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eBPF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10642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Problem, history, ecosystem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0" y="941832"/>
            <a:ext cx="1005840" cy="32918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9418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8191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581912"/>
            <a:ext cx="493776" cy="694944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581912"/>
            <a:ext cx="493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7824" y="1636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Internal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" y="191109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Lifecycle, maps, program types, CO-RE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0960" y="1746504"/>
            <a:ext cx="1005840" cy="329184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174650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38658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86584"/>
            <a:ext cx="493776" cy="6949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386584"/>
            <a:ext cx="493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77824" y="24414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bpftrace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271576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Syntax, probes, aggregations, exercises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2551176"/>
            <a:ext cx="100584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255117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19125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91256"/>
            <a:ext cx="493776" cy="6949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191256"/>
            <a:ext cx="493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77824" y="3246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verifier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" y="35204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common errors, corrections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0" y="3355848"/>
            <a:ext cx="1005840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33558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99592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995928"/>
            <a:ext cx="493776" cy="6949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3995928"/>
            <a:ext cx="493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77824" y="40507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 environment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7824" y="432511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libbpf, Makefile, frameworks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80960" y="4160520"/>
            <a:ext cx="1005840" cy="32918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0" y="41605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eBPF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• History • The ecosystem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fundamental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où agir sur le kernel Linux sans le modifier ni le recompiler.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01168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123444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kernel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possible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Fragile entre versions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145536"/>
            <a:ext cx="146304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455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HIGH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1234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234440"/>
            <a:ext cx="201168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2505456" y="123444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strace / ptrace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1572768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 x10 a x100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Inutilisable en prod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24912" y="3145536"/>
            <a:ext cx="146304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2724912" y="31455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HIGH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26864" y="1234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234440"/>
            <a:ext cx="201168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681728" y="123444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Instrumentation app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8304" y="1572768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Requiert le code source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Necessite un rechargement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01184" y="3145536"/>
            <a:ext cx="146304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01184" y="31455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MED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03136" y="1234440"/>
            <a:ext cx="201168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234440"/>
            <a:ext cx="2011680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23444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94576" y="1572768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1% overhead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modification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(vérificateur)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77456" y="3145536"/>
            <a:ext cx="1463040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7077456" y="31455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Condensed history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00200" y="1408176"/>
            <a:ext cx="5029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170432"/>
            <a:ext cx="512064" cy="512064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7043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182880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" y="1901952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BPF classique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" y="2304288"/>
            <a:ext cx="1517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 paquets dans tcpdump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McCanne &amp; Jacobson, Berkeley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408176"/>
            <a:ext cx="5029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Shape 9"/>
          <p:cNvSpPr/>
          <p:nvPr/>
        </p:nvSpPr>
        <p:spPr>
          <a:xfrm>
            <a:off x="2459736" y="1170432"/>
            <a:ext cx="512064" cy="512064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2" name="Text 10"/>
          <p:cNvSpPr/>
          <p:nvPr/>
        </p:nvSpPr>
        <p:spPr>
          <a:xfrm>
            <a:off x="2395728" y="117043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2014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56816" y="182880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1901952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 generalise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304288"/>
            <a:ext cx="1517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a tous les événements kernel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Alexei Starovoitov, Linux 3.18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48072" y="1408176"/>
            <a:ext cx="5029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233672" y="1170432"/>
            <a:ext cx="512064" cy="512064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69664" y="117043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182880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85616" y="1901952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Cilium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85616" y="2304288"/>
            <a:ext cx="1517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CNI Kubernetes eBPF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 sort de la recherche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22008" y="1408176"/>
            <a:ext cx="5029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07608" y="1170432"/>
            <a:ext cx="512064" cy="512064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117043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04688" y="182880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59552" y="1901952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BTF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9552" y="2304288"/>
            <a:ext cx="1517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 Type Format : métadonnées de types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du CO-RE et de la portabilité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81544" y="1170432"/>
            <a:ext cx="512064" cy="512064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29" name="Text 27"/>
          <p:cNvSpPr/>
          <p:nvPr/>
        </p:nvSpPr>
        <p:spPr>
          <a:xfrm>
            <a:off x="7717536" y="117043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2020+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78624" y="182880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33488" y="1901952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33488" y="2304288"/>
            <a:ext cx="1517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Meta, Google, Netflix, Cloudflare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a grande echelle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eBPF ecosystem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914400" cy="192024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Cilium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D0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80160" y="1051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 : network policy L7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balancing sans kube-proxy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7772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777240"/>
            <a:ext cx="914400" cy="1920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68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Falco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D0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06440" y="1051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comportementale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règles sur syscalls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620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62072"/>
            <a:ext cx="914400" cy="1920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9535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Tetragon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4564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D0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80160" y="313639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événements sécurité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enforcement (kill)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8620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62072"/>
            <a:ext cx="914400" cy="1920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535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bcc / bpftrace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4564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Observabilité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D0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06440" y="313639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de traçage et profilage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communaute et apprentissage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946904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946904"/>
            <a:ext cx="914400" cy="1920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50383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Parca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554126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D0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80160" y="5221224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Flamegraphs en 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 minimal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Internal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560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 vie • Maps • Types de programmes • BTF / CO-RE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 program lifecycle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737360" y="1901952"/>
            <a:ext cx="365760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3"/>
          <p:cNvSpPr/>
          <p:nvPr/>
        </p:nvSpPr>
        <p:spPr>
          <a:xfrm>
            <a:off x="2029968" y="1783080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572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1572768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229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22529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source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68249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où Rust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clang -target bpf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93008" y="1901952"/>
            <a:ext cx="365760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2" name="Text 10"/>
          <p:cNvSpPr/>
          <p:nvPr/>
        </p:nvSpPr>
        <p:spPr>
          <a:xfrm>
            <a:off x="3785616" y="1783080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29968" y="822960"/>
            <a:ext cx="1572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29968" y="822960"/>
            <a:ext cx="1572768" cy="329184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5" name="Text 13"/>
          <p:cNvSpPr/>
          <p:nvPr/>
        </p:nvSpPr>
        <p:spPr>
          <a:xfrm>
            <a:off x="2029968" y="8229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122529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Bytecode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168249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 64 bits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registres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48656" y="1901952"/>
            <a:ext cx="365760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9" name="Text 17"/>
          <p:cNvSpPr/>
          <p:nvPr/>
        </p:nvSpPr>
        <p:spPr>
          <a:xfrm>
            <a:off x="5541264" y="1783080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85616" y="822960"/>
            <a:ext cx="1572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85616" y="822960"/>
            <a:ext cx="1572768" cy="3291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785616" y="8229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58768" y="122529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Vérificateur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58768" y="168249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statique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+ terminaison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04304" y="1901952"/>
            <a:ext cx="365760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6" name="Text 24"/>
          <p:cNvSpPr/>
          <p:nvPr/>
        </p:nvSpPr>
        <p:spPr>
          <a:xfrm>
            <a:off x="7296912" y="1783080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41264" y="822960"/>
            <a:ext cx="1572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41264" y="822960"/>
            <a:ext cx="1572768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5541264" y="8229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14416" y="122529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14416" y="168249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natif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x86/ARM64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96912" y="822960"/>
            <a:ext cx="1572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96912" y="822960"/>
            <a:ext cx="1572768" cy="32918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7296912" y="8229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70064" y="122529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Exécution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70064" y="168249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Événementiel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overhead si inactif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verifier runs ONCE at load time. After JIT compilation, code executes directly in the kernel.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Maps: persistence and communication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474720" cy="4114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822960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(programme eBPF)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0" cy="64008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88720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BPF_MAP_TYPE_HASH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A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cle/valeur : lookup O(1)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108960" cy="640080"/>
          </a:xfrm>
          <a:prstGeom prst="rect">
            <a:avLst/>
          </a:prstGeom>
          <a:solidFill>
            <a:srgbClr val="1A2E44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938528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BPF_MAP_TYPE_RINGBUF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A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evenements zero-copy -&gt; userspace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3108960" cy="640080"/>
          </a:xfrm>
          <a:prstGeom prst="rect">
            <a:avLst/>
          </a:prstGeom>
          <a:solidFill>
            <a:srgbClr val="1A2E4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688336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BPF_MAP_TYPE_PERCPU_HASH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A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sans contention entre CPUs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0" y="2487168"/>
            <a:ext cx="54864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77056" y="230428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272491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0560" y="777240"/>
            <a:ext cx="4389120" cy="4114800"/>
          </a:xfrm>
          <a:prstGeom prst="rect">
            <a:avLst/>
          </a:prstGeom>
          <a:solidFill>
            <a:srgbClr val="F0F8F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822960"/>
            <a:ext cx="4242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Userspace (daemon, outil de monitoring)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170432"/>
            <a:ext cx="41330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19786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bpf_map_lookup_elem()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1728" y="1444752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Chercher une valeur par clé — Retourne un pointeur où NULL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920240"/>
            <a:ext cx="41330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94767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bpf_map_update_elem()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1728" y="219456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où modifier une entrée — Flags : ANY, NOEXIST, EXIST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2670048"/>
            <a:ext cx="41330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269748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bpf_map_delete_elem()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81728" y="29443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Supprimer une entrée — Côté kernel et userspace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3419856"/>
            <a:ext cx="41330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447288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bpf_ringbuf_reserve()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81728" y="369417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Réserver un slot d'événement — Zero-copy : pas de memcpy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 types and attachment points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Attachment point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kprobe / kretprobe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Entrée/sortie d'une fonction kernel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Syscall tracing, debugging, detection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tracepoint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statique nomme (stable)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Observabilité en production : préférer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uprobe / uretprobe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Functions in a userspace binary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tracing without code changes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XDP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Reception paquet avant la stack réseau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Filtrage haute perf, DDoS mitigation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ingress/egress queue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QoS, redirection, traffic shaping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 Security Module hooks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d'accès programmatique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perf_event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Hardware/software events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profiling, flamegraphs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07408"/>
            <a:ext cx="8595360" cy="512064"/>
          </a:xfrm>
          <a:prstGeom prst="rect">
            <a:avLst/>
          </a:prstGeom>
          <a:solidFill>
            <a:srgbClr val="EAF4FC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4439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kprobe est instable (lie a une adresse)  •  tracepoint est stable (lie a un nom documente)  •  In production: always prefer tracepoint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BTF and CO-RE: cross-kernel portability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114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22960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Sans BTF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122529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5.15 : struct task_struct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pid au byte offset 8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Programme compile sur 5.15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lit le byte 8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5.10 : struct task_struct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pid au byte offset 4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 5.10 : reads the WRONG offset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valeur erronee où crash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25112" y="2377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7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4114800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822960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Avec BTF + CO-RE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22529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compilation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binaire embarque les types BTF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load time on 5.10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kernel ajuste les offsets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according to its own BTF version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load time on 5.15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same: automatic adjustment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binary: runs everywhere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bpftrace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Tracing without writing 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3200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• Probes • Builtins • Aggregations • Exercises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General syntax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914400"/>
          </a:xfrm>
          <a:prstGeom prst="rect">
            <a:avLst/>
          </a:prstGeom>
          <a:solidFill>
            <a:srgbClr val="16213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4124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72768" y="84124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/predicat/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19856" y="84124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action }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run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72768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(optional)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19856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1280160"/>
          </a:xfrm>
          <a:prstGeom prst="rect">
            <a:avLst/>
          </a:prstGeom>
          <a:solidFill>
            <a:srgbClr val="1621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2336" y="20665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Monitor all file opens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23042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tracepoint:syscalls:sys_enter_openat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/uid != 0/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25786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printf("%s -&gt; %s\n", comm, str(args-&gt;filename));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28346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3832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probe types: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36758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kprobe:fn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" y="38953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fct entry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54680" y="3657600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9544" y="36758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tracepoint:cat:nom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9544" y="38953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tracepoint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5040" y="3657600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9904" y="36758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uprobe:bin:fn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9904" y="38953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Userspace fct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224528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42428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interval:s:N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" y="4462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timer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54680" y="4224528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9544" y="42428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profile:hz:N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9544" y="4462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sampling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35040" y="4224528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4A67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9904" y="42428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/ END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9904" y="4462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Debut / arret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Variables et fonctions cles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Builtin / Fonction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pid / tid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PID et Thread 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(pid == 1234) {...}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uid / gid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UID et GID effectifs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(uid == 0) { ... }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 du processus (16 char)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printf("%s", comm)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nsecs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Timestamp monotone en 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@s[tid] = nsecs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args-&gt;champ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Argument d'un tracepoint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str(args-&gt;filename)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retval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de retour (kretprobe)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(retval &lt; 0) { ... }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str(ptr)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Convertir char* en string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str(args-&gt;filename)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hist(val)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exp2 histogram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@lat = hist(nsecs-@s[tid])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count()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Compteur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@[comm] = count()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delete(@m[k])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 a map entry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delete(@s[tid])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Latency measurement pattern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pattern: store the timestamp at entry, calculate duration at return.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5303520" cy="3474720"/>
          </a:xfrm>
          <a:prstGeom prst="rect">
            <a:avLst/>
          </a:prstGeom>
          <a:solidFill>
            <a:srgbClr val="16213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1188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 l'ENTREE : stocker le timestamp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2336" y="14538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kprobe:vfs_read {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2336" y="17190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@debut[tid] = nsecs;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19842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" y="22494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2514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Au RETOUR : calculer la duree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27797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kretprobe:vfs_read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30449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/@debut[tid]/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33101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" y="35753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@lat[comm] = hist(nsecs - @debut[tid]);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2336" y="38404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delete(@debut[tid]);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2336" y="41056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87568" y="1261872"/>
            <a:ext cx="3182112" cy="749808"/>
          </a:xfrm>
          <a:prstGeom prst="rect">
            <a:avLst/>
          </a:prstGeom>
          <a:solidFill>
            <a:srgbClr val="EAF4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31673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 identifie le thread : plusieurs threads peuvent appeler vfs_read en parallèle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87568" y="2066544"/>
            <a:ext cx="3182112" cy="749808"/>
          </a:xfrm>
          <a:prstGeom prst="rect">
            <a:avLst/>
          </a:prstGeom>
          <a:solidFill>
            <a:srgbClr val="EAF4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1214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/@debut[tid]/ : predicat. S'exécute seulement si le timestamp existe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87568" y="2926080"/>
            <a:ext cx="3182112" cy="749808"/>
          </a:xfrm>
          <a:prstGeom prst="rect">
            <a:avLst/>
          </a:prstGeom>
          <a:solidFill>
            <a:srgbClr val="EAF4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9809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différence donne la duree du syscall en nanosecondes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87568" y="3218688"/>
            <a:ext cx="3182112" cy="749808"/>
          </a:xfrm>
          <a:prstGeom prst="rect">
            <a:avLst/>
          </a:prstGeom>
          <a:solidFill>
            <a:srgbClr val="EAF4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327355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OBLIGATOIRE : eviter une fuite mémoire dans la map @debut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bpftrace exercises (lab)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8696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86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905256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 ouvre des fichiers 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tracepoint:syscalls:sys_enter_openat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Afficher comm et args-&gt;filename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 sur /etc/ avec strncmp()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16052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886968"/>
            <a:ext cx="512064" cy="512064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11" name="Text 9"/>
          <p:cNvSpPr/>
          <p:nvPr/>
        </p:nvSpPr>
        <p:spPr>
          <a:xfrm>
            <a:off x="4727448" y="886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0952" y="905256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Latence vfs_read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7448" y="1417320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entrée/retour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Histogramme par comm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la distribution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6052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990088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990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3008376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Compteur de syscalls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520440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tracepoint:raw_syscalls:sys_enter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Rafraichir toutes les 5 secondes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processus le plus actif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2880360"/>
            <a:ext cx="416052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2990088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2990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0952" y="3008376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Détecter les execve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27448" y="3520440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tracepoint:syscalls:sys_enter_execve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Afficher pid, comm, args-&gt;filename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 sur comm == "bash"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verifier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eBPF security barrier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3017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• What it verifies • Common errors • Strategies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Verifier role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ONCE, at load time. If accepted: direct execution in the kernel.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8892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88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5179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MUST terminate. No infinite loops. Boucles autorisees si nombre d'iterations statiquement borné (kernel 5.3+).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27889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27832" y="1188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memory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27832" y="15179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memory access is proven valid across all branches. Dynamically computed offsets must be explicitly bounded.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88720"/>
            <a:ext cx="278892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108192" y="1188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pointers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08192" y="15179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pointer returned by a helper (lookup, ringbuf_reserve) must be checked non-NULL before dereferencing.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2788920" cy="27432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size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33467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512 octets de variables locales. Grandes structures -&gt; maps scratch.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3017520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3017520"/>
            <a:ext cx="278892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3227832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helpers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27832" y="33467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program type has an authorized helpers list. XDP != socket filter != kprobe.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017520"/>
            <a:ext cx="278892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108192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08192" y="33467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count limited (1 million since kernel 5.8). Beyond that: tail calls.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errors and fixes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invalid mem access 'map_value_or_null'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60520" cy="1060704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607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280160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bpf_map_lookup_elem() retourne NULL si absent.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pointeur n'est pas vérifié avant usage.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1024128"/>
            <a:ext cx="4343400" cy="1060704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0607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90288" y="1280160"/>
            <a:ext cx="4187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if (!val) return 0; après le lookup.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verifier sait alors que val != NULL.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8595360" cy="274320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0370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 stack size is 614. Too Large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4160520" cy="1060704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2706624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locales &gt; 512 octets.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 buf[600] depasse la limite.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6280" y="2450592"/>
            <a:ext cx="4343400" cy="1060704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2487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90288" y="2706624"/>
            <a:ext cx="4187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Reduire le buffer.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utiliser une map PERCPU_ARRAY comme scratch.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8595360" cy="274320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63016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access to map value off=68 size=4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877056"/>
            <a:ext cx="4160520" cy="1060704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9136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" y="4133088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 dynamique calcule depasse la taille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valeur de la map (16 octets ici).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3877056"/>
            <a:ext cx="4343400" cy="1060704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39136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90288" y="4133088"/>
            <a:ext cx="4187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Borner l'offset avant l'accès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(offset &gt;= sizeof(struct)) return 0;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Exercise: trigger and fix a verifier rejection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deliberately trigger a verifier rejection, read the message, fix it.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60520" cy="3657600"/>
          </a:xfrm>
          <a:prstGeom prst="rect">
            <a:avLst/>
          </a:prstGeom>
          <a:solidFill>
            <a:srgbClr val="16213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4160520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15568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prog_invalide.bpf.c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38988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SEC("kprobe/do_sys_open")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68249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trace(struct pt_regs *ctx) {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97510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u32 k = 0;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26771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u64 *v = bpf_map_lookup_elem(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5603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&amp;ma_map, &amp;k);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85292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PROBLEME : pas de test nul !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314553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*v = bpf_ktime_get_ns();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343814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373075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6280" y="1115568"/>
            <a:ext cx="4343400" cy="3657600"/>
          </a:xfrm>
          <a:prstGeom prst="rect">
            <a:avLst/>
          </a:prstGeom>
          <a:solidFill>
            <a:srgbClr val="F8F9FC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a suivre 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499616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47488" y="149961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le fichier prog_invalide.bpf.c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1975104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1975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7488" y="197510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clang -O2 -target bpf -c prog_invalide.bpf.c -o prog.bpf.o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2450592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2450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47488" y="24505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Tenter le chargement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bpftool prog load prog.bpf.o /sys/fs/bpf/test 2&gt;&amp;1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926080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47488" y="29260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 message d'erreur.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 registre et la raison.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401568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47488" y="34015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Corriger : ajouter if (!v) return 0;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877056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3877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47488" y="387705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Recompiler et recharger : vérifier que l'erreur disparait.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4352544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38" name="Text 36"/>
          <p:cNvSpPr/>
          <p:nvPr/>
        </p:nvSpPr>
        <p:spPr>
          <a:xfrm>
            <a:off x="4617720" y="4352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47488" y="435254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Nettoyer : sudo rm /sys/fs/bpf/test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Environnement de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developpement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27432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libbpf • Makefile • vmlinux.h • Frameworks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Minimal libbpf project structure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023360" cy="2743200"/>
          </a:xfrm>
          <a:prstGeom prst="rect">
            <a:avLst/>
          </a:prstGeom>
          <a:solidFill>
            <a:srgbClr val="162130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" y="8595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mon_programme/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prog.bpf.c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70078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prog.c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2121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vmlinux.h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2542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`-- Makefile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52144"/>
            <a:ext cx="4434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19786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prog.bpf.c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1444752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kernel : compile avec clang -target bpf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S'exécute dans le kernel eBPF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1572768"/>
            <a:ext cx="4434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161848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prog.c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1865376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userspace : charge le programme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les maps : affiche les événements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34840" y="1993392"/>
            <a:ext cx="4434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203911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vmlinux.h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28600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kernel generes depuis BTF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all #include &lt;linux/...&gt;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34840" y="2414016"/>
            <a:ext cx="4434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6280" y="245973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Makefile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2706624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compilation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 les dependances entre fichiers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8595360" cy="1280160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02336" y="36210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vmlinux.h (once per machine)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" y="38770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bpftool btf dump file /sys/kernel/btf/vmlinux format c &gt; vmlinux.h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4133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Compiler le code eBPF (target bpf : OBLIGATOIRE)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" y="4389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clang -O2 -target bpf -D__TARGET_ARCH_x86 -I. -c prog.bpf.c -o prog.bpf.o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Choosing your framework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6276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1627632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74980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bpftrace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" y="117043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950" dirty="0"/>
          </a:p>
          <a:p>
            <a:pPr indent="0" marL="0">
              <a:buNone/>
            </a:pPr>
            <a:r>
              <a:rPr lang="en-US" sz="950" b="1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bpftrace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" y="166420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Advantages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" y="1901952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rapide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ad hoc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et demos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" y="287121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Limitations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3108960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pas utiliser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749808"/>
            <a:ext cx="16276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749808"/>
            <a:ext cx="1627632" cy="36576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74980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libbpf + 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117043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E6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C99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66544" y="166420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Advantages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66544" y="1901952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total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Portabilite maximale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Bibliotheques partagees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66544" y="287121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Limitations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66544" y="3108960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Verbeux : demande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pratique 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3968496"/>
            <a:ext cx="1444752" cy="292608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21" name="Text 19"/>
          <p:cNvSpPr/>
          <p:nvPr/>
        </p:nvSpPr>
        <p:spPr>
          <a:xfrm>
            <a:off x="2103120" y="3968496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prod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49040" y="749808"/>
            <a:ext cx="16276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749808"/>
            <a:ext cx="1627632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3803904" y="74980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Aya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03904" y="117043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03904" y="166420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Advantages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03904" y="1901952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mémoire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Ecosysteme Cargo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Nouveaux projets Rust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03904" y="287121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Limitations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03904" y="3108960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Nécessité de maîtriser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et les lifetimes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749808"/>
            <a:ext cx="16276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0" y="749808"/>
            <a:ext cx="1627632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5541264" y="74980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ebpf-go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41264" y="117043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41264" y="166420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Advantages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41264" y="1901952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dans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daemon Go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Cloud Native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41264" y="287121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Limitations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41264" y="3108960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de controle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libbpf pur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749808"/>
            <a:ext cx="16276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23760" y="749808"/>
            <a:ext cx="1627632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278624" y="74980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bcc + Python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78624" y="117043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C</a:t>
            </a:r>
            <a:endParaRPr lang="en-US" sz="950" dirty="0"/>
          </a:p>
          <a:p>
            <a:pPr indent="0" marL="0">
              <a:buNone/>
            </a:pPr>
            <a:r>
              <a:rPr lang="en-US" sz="95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78624" y="166420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Advantages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78624" y="1901952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Prototypage rapide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riche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Communaute large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78624" y="287121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Limitations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278624" y="3108960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 LLVM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chargement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914400" cy="113385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1389888"/>
            <a:ext cx="804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207008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 the kernel: secured by the verifier: JIT: zero overhead when idle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15568"/>
            <a:ext cx="914400" cy="11338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1389888"/>
            <a:ext cx="804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Vérificateur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5000" y="1207008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pass at load time: guarantees termination and memory safety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77440"/>
            <a:ext cx="914400" cy="1133856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2651760"/>
            <a:ext cx="804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2468880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 facade de persistance : ring buffer pour les événements : hash pour les états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377440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77440"/>
            <a:ext cx="914400" cy="11338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764024" y="2651760"/>
            <a:ext cx="804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BTF / CO-RE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2468880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Cross-kernel portability: check /sys/kernel/btf/vmlinux first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39312"/>
            <a:ext cx="914400" cy="11338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" y="3913632"/>
            <a:ext cx="804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bpftrace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3730752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et prototypage rapide : pas adapte a la production persistante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639312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39312"/>
            <a:ext cx="914400" cy="113385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4764024" y="3913632"/>
            <a:ext cx="804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libbpf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3730752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reference: CO-RE: Makefile + vmlinux.h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71830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Track A (observability) • Track B (security) • Track C (low-level networking) • Track D (debugging)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eBPF Module 0 - eBPF Foundation</dc:title>
  <dc:subject>PptxGenJS Presentation</dc:subject>
  <dc:creator>Formation eBPF</dc:creator>
  <cp:lastModifiedBy>Formation eBPF</cp:lastModifiedBy>
  <cp:revision>1</cp:revision>
  <dcterms:created xsi:type="dcterms:W3CDTF">2026-04-05T12:28:50Z</dcterms:created>
  <dcterms:modified xsi:type="dcterms:W3CDTF">2026-04-05T12:28:50Z</dcterms:modified>
</cp:coreProperties>
</file>