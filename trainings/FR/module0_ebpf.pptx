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0916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851493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816883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1521883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45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78820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550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659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3835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079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965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1260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7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573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0740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906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586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80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016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681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1934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961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354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7059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85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494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085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342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4061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0448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260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7204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6975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918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567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8974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38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778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306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946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05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067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137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595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743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445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737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969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44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451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320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588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472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852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119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5968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937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770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430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7326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640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00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2867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377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756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1714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161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218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0036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829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731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934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650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619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846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349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5821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450974" name="Shape 0"/>
          <p:cNvSpPr/>
          <p:nvPr/>
        </p:nvSpPr>
        <p:spPr bwMode="auto">
          <a:xfrm>
            <a:off x="0" y="0"/>
            <a:ext cx="45720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548635" name="Shape 1"/>
          <p:cNvSpPr/>
          <p:nvPr/>
        </p:nvSpPr>
        <p:spPr bwMode="auto">
          <a:xfrm>
            <a:off x="8961120" y="0"/>
            <a:ext cx="1828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75005610" name="Text 2"/>
          <p:cNvSpPr/>
          <p:nvPr/>
        </p:nvSpPr>
        <p:spPr bwMode="auto">
          <a:xfrm>
            <a:off x="685800" y="5486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800" b="1">
                <a:solidFill>
                  <a:srgbClr val="00C8FF"/>
                </a:solidFill>
                <a:latin typeface="Arial Black"/>
                <a:ea typeface="Arial Black"/>
                <a:cs typeface="Arial Black"/>
              </a:rPr>
              <a:t>eBPF</a:t>
            </a:r>
            <a:endParaRPr lang="en-US" sz="8800"/>
          </a:p>
        </p:txBody>
      </p:sp>
      <p:sp>
        <p:nvSpPr>
          <p:cNvPr id="744366099" name="Text 3"/>
          <p:cNvSpPr/>
          <p:nvPr/>
        </p:nvSpPr>
        <p:spPr bwMode="auto">
          <a:xfrm>
            <a:off x="68580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Module 0 : Socle eBPF</a:t>
            </a:r>
            <a:endParaRPr lang="en-US" sz="2600"/>
          </a:p>
        </p:txBody>
      </p:sp>
      <p:sp>
        <p:nvSpPr>
          <p:cNvPr id="1621416858" name="Text 4"/>
          <p:cNvSpPr/>
          <p:nvPr/>
        </p:nvSpPr>
        <p:spPr bwMode="auto">
          <a:xfrm>
            <a:off x="68580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spc="100">
                <a:solidFill>
                  <a:srgbClr val="EAF4FC"/>
                </a:solidFill>
                <a:latin typeface="Arial"/>
                <a:ea typeface="Arial"/>
                <a:cs typeface="Arial"/>
              </a:rPr>
              <a:t>Architecture • bpftrace • Vérificateur • Environnement</a:t>
            </a:r>
            <a:endParaRPr lang="en-US" sz="1300"/>
          </a:p>
        </p:txBody>
      </p:sp>
      <p:sp>
        <p:nvSpPr>
          <p:cNvPr id="850365115" name="Shape 5"/>
          <p:cNvSpPr/>
          <p:nvPr/>
        </p:nvSpPr>
        <p:spPr bwMode="auto">
          <a:xfrm>
            <a:off x="685800" y="2926080"/>
            <a:ext cx="457200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57338906" name="Text 6"/>
          <p:cNvSpPr/>
          <p:nvPr/>
        </p:nvSpPr>
        <p:spPr bwMode="auto">
          <a:xfrm>
            <a:off x="6858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6785"/>
                </a:solidFill>
                <a:latin typeface="Arial"/>
                <a:ea typeface="Arial"/>
                <a:cs typeface="Arial"/>
              </a:rPr>
              <a:t>Support stagiaire</a:t>
            </a:r>
            <a:endParaRPr lang="en-US" sz="1100"/>
          </a:p>
        </p:txBody>
      </p:sp>
      <p:sp>
        <p:nvSpPr>
          <p:cNvPr id="106580407" name="Text 7"/>
          <p:cNvSpPr/>
          <p:nvPr/>
        </p:nvSpPr>
        <p:spPr bwMode="auto">
          <a:xfrm>
            <a:off x="6858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4A6785"/>
                </a:solidFill>
                <a:latin typeface="Arial"/>
                <a:ea typeface="Arial"/>
                <a:cs typeface="Arial"/>
              </a:rPr>
              <a:t>Prérequis : bases Linux (shell, processus, réseau)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711771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20426521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Sommaire</a:t>
            </a:r>
            <a:endParaRPr lang="en-US" sz="2000"/>
          </a:p>
        </p:txBody>
      </p:sp>
      <p:sp>
        <p:nvSpPr>
          <p:cNvPr id="411205139" name="Shape 2"/>
          <p:cNvSpPr/>
          <p:nvPr/>
        </p:nvSpPr>
        <p:spPr bwMode="auto">
          <a:xfrm>
            <a:off x="274320" y="77724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6129826" name="Shape 3"/>
          <p:cNvSpPr/>
          <p:nvPr/>
        </p:nvSpPr>
        <p:spPr bwMode="auto">
          <a:xfrm>
            <a:off x="274320" y="777240"/>
            <a:ext cx="493776" cy="69494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16018344" name="Text 4"/>
          <p:cNvSpPr/>
          <p:nvPr/>
        </p:nvSpPr>
        <p:spPr bwMode="auto">
          <a:xfrm>
            <a:off x="274320" y="777240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1</a:t>
            </a:r>
            <a:endParaRPr lang="en-US" sz="2200"/>
          </a:p>
        </p:txBody>
      </p:sp>
      <p:sp>
        <p:nvSpPr>
          <p:cNvPr id="1553731698" name="Text 5"/>
          <p:cNvSpPr/>
          <p:nvPr/>
        </p:nvSpPr>
        <p:spPr bwMode="auto">
          <a:xfrm>
            <a:off x="877824" y="8321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Pourquoi eBPF</a:t>
            </a:r>
            <a:endParaRPr lang="en-US" sz="1300"/>
          </a:p>
        </p:txBody>
      </p:sp>
      <p:sp>
        <p:nvSpPr>
          <p:cNvPr id="740185493" name="Text 6"/>
          <p:cNvSpPr/>
          <p:nvPr/>
        </p:nvSpPr>
        <p:spPr bwMode="auto">
          <a:xfrm>
            <a:off x="877824" y="110642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6785"/>
                </a:solidFill>
                <a:latin typeface="Arial"/>
                <a:ea typeface="Arial"/>
                <a:cs typeface="Arial"/>
              </a:rPr>
              <a:t>Problème, historique, ecosysteme</a:t>
            </a:r>
            <a:endParaRPr lang="en-US" sz="1000"/>
          </a:p>
        </p:txBody>
      </p:sp>
      <p:sp>
        <p:nvSpPr>
          <p:cNvPr id="1020828949" name="Shape 7"/>
          <p:cNvSpPr/>
          <p:nvPr/>
        </p:nvSpPr>
        <p:spPr bwMode="auto">
          <a:xfrm>
            <a:off x="7680960" y="941832"/>
            <a:ext cx="1005840" cy="32918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13515078" name="Text 8"/>
          <p:cNvSpPr/>
          <p:nvPr/>
        </p:nvSpPr>
        <p:spPr bwMode="auto">
          <a:xfrm>
            <a:off x="7680960" y="941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30 min</a:t>
            </a:r>
            <a:endParaRPr lang="en-US" sz="1100"/>
          </a:p>
        </p:txBody>
      </p:sp>
      <p:sp>
        <p:nvSpPr>
          <p:cNvPr id="1771190653" name="Shape 9"/>
          <p:cNvSpPr/>
          <p:nvPr/>
        </p:nvSpPr>
        <p:spPr bwMode="auto">
          <a:xfrm>
            <a:off x="274320" y="158191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79774363" name="Shape 10"/>
          <p:cNvSpPr/>
          <p:nvPr/>
        </p:nvSpPr>
        <p:spPr bwMode="auto">
          <a:xfrm>
            <a:off x="274320" y="1581912"/>
            <a:ext cx="493776" cy="69494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395168805" name="Text 11"/>
          <p:cNvSpPr/>
          <p:nvPr/>
        </p:nvSpPr>
        <p:spPr bwMode="auto">
          <a:xfrm>
            <a:off x="274320" y="1581912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2200"/>
          </a:p>
        </p:txBody>
      </p:sp>
      <p:sp>
        <p:nvSpPr>
          <p:cNvPr id="969242128" name="Text 12"/>
          <p:cNvSpPr/>
          <p:nvPr/>
        </p:nvSpPr>
        <p:spPr bwMode="auto">
          <a:xfrm>
            <a:off x="877824" y="1636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Architecture interne</a:t>
            </a:r>
            <a:endParaRPr lang="en-US" sz="1300"/>
          </a:p>
        </p:txBody>
      </p:sp>
      <p:sp>
        <p:nvSpPr>
          <p:cNvPr id="840049447" name="Text 13"/>
          <p:cNvSpPr/>
          <p:nvPr/>
        </p:nvSpPr>
        <p:spPr bwMode="auto">
          <a:xfrm>
            <a:off x="877824" y="191109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6785"/>
                </a:solidFill>
                <a:latin typeface="Arial"/>
                <a:ea typeface="Arial"/>
                <a:cs typeface="Arial"/>
              </a:rPr>
              <a:t>Cycle de vie, maps, types de programmes, CO-RE</a:t>
            </a:r>
            <a:endParaRPr lang="en-US" sz="1000"/>
          </a:p>
        </p:txBody>
      </p:sp>
      <p:sp>
        <p:nvSpPr>
          <p:cNvPr id="54740901" name="Shape 14"/>
          <p:cNvSpPr/>
          <p:nvPr/>
        </p:nvSpPr>
        <p:spPr bwMode="auto">
          <a:xfrm>
            <a:off x="7680960" y="1746504"/>
            <a:ext cx="1005840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025382289" name="Text 15"/>
          <p:cNvSpPr/>
          <p:nvPr/>
        </p:nvSpPr>
        <p:spPr bwMode="auto">
          <a:xfrm>
            <a:off x="7680960" y="17465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45 min</a:t>
            </a:r>
            <a:endParaRPr lang="en-US" sz="1100"/>
          </a:p>
        </p:txBody>
      </p:sp>
      <p:sp>
        <p:nvSpPr>
          <p:cNvPr id="2040716023" name="Shape 16"/>
          <p:cNvSpPr/>
          <p:nvPr/>
        </p:nvSpPr>
        <p:spPr bwMode="auto">
          <a:xfrm>
            <a:off x="274320" y="238658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29263525" name="Shape 17"/>
          <p:cNvSpPr/>
          <p:nvPr/>
        </p:nvSpPr>
        <p:spPr bwMode="auto">
          <a:xfrm>
            <a:off x="274320" y="2386584"/>
            <a:ext cx="493776" cy="6949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73771183" name="Text 18"/>
          <p:cNvSpPr/>
          <p:nvPr/>
        </p:nvSpPr>
        <p:spPr bwMode="auto">
          <a:xfrm>
            <a:off x="274320" y="2386584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2200"/>
          </a:p>
        </p:txBody>
      </p:sp>
      <p:sp>
        <p:nvSpPr>
          <p:cNvPr id="27040640" name="Text 19"/>
          <p:cNvSpPr/>
          <p:nvPr/>
        </p:nvSpPr>
        <p:spPr bwMode="auto">
          <a:xfrm>
            <a:off x="877824" y="2441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bpftrace</a:t>
            </a:r>
            <a:endParaRPr lang="en-US" sz="1300"/>
          </a:p>
        </p:txBody>
      </p:sp>
      <p:sp>
        <p:nvSpPr>
          <p:cNvPr id="1031596421" name="Text 20"/>
          <p:cNvSpPr/>
          <p:nvPr/>
        </p:nvSpPr>
        <p:spPr bwMode="auto">
          <a:xfrm>
            <a:off x="877824" y="271576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6785"/>
                </a:solidFill>
                <a:latin typeface="Arial"/>
                <a:ea typeface="Arial"/>
                <a:cs typeface="Arial"/>
              </a:rPr>
              <a:t>Syntaxe, probes, agrégations, exercices</a:t>
            </a:r>
            <a:endParaRPr lang="en-US" sz="1000"/>
          </a:p>
        </p:txBody>
      </p:sp>
      <p:sp>
        <p:nvSpPr>
          <p:cNvPr id="2055400616" name="Shape 21"/>
          <p:cNvSpPr/>
          <p:nvPr/>
        </p:nvSpPr>
        <p:spPr bwMode="auto">
          <a:xfrm>
            <a:off x="7680960" y="2551176"/>
            <a:ext cx="100584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7747122" name="Text 22"/>
          <p:cNvSpPr/>
          <p:nvPr/>
        </p:nvSpPr>
        <p:spPr bwMode="auto">
          <a:xfrm>
            <a:off x="7680960" y="25511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60 min</a:t>
            </a:r>
            <a:endParaRPr lang="en-US" sz="1100"/>
          </a:p>
        </p:txBody>
      </p:sp>
      <p:sp>
        <p:nvSpPr>
          <p:cNvPr id="1606414274" name="Shape 23"/>
          <p:cNvSpPr/>
          <p:nvPr/>
        </p:nvSpPr>
        <p:spPr bwMode="auto">
          <a:xfrm>
            <a:off x="274320" y="319125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45549305" name="Shape 24"/>
          <p:cNvSpPr/>
          <p:nvPr/>
        </p:nvSpPr>
        <p:spPr bwMode="auto">
          <a:xfrm>
            <a:off x="274320" y="3191256"/>
            <a:ext cx="493776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5735188" name="Text 25"/>
          <p:cNvSpPr/>
          <p:nvPr/>
        </p:nvSpPr>
        <p:spPr bwMode="auto">
          <a:xfrm>
            <a:off x="274320" y="3191256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4</a:t>
            </a:r>
            <a:endParaRPr lang="en-US" sz="2200"/>
          </a:p>
        </p:txBody>
      </p:sp>
      <p:sp>
        <p:nvSpPr>
          <p:cNvPr id="1409261807" name="Text 26"/>
          <p:cNvSpPr/>
          <p:nvPr/>
        </p:nvSpPr>
        <p:spPr bwMode="auto">
          <a:xfrm>
            <a:off x="877824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Le vérificateur</a:t>
            </a:r>
            <a:endParaRPr lang="en-US" sz="1300"/>
          </a:p>
        </p:txBody>
      </p:sp>
      <p:sp>
        <p:nvSpPr>
          <p:cNvPr id="1653703209" name="Text 27"/>
          <p:cNvSpPr/>
          <p:nvPr/>
        </p:nvSpPr>
        <p:spPr bwMode="auto">
          <a:xfrm>
            <a:off x="877824" y="3520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6785"/>
                </a:solidFill>
                <a:latin typeface="Arial"/>
                <a:ea typeface="Arial"/>
                <a:cs typeface="Arial"/>
              </a:rPr>
              <a:t>Sécurité, erreurs courantes, corrections</a:t>
            </a:r>
            <a:endParaRPr lang="en-US" sz="1000"/>
          </a:p>
        </p:txBody>
      </p:sp>
      <p:sp>
        <p:nvSpPr>
          <p:cNvPr id="1956618429" name="Shape 28"/>
          <p:cNvSpPr/>
          <p:nvPr/>
        </p:nvSpPr>
        <p:spPr bwMode="auto">
          <a:xfrm>
            <a:off x="7680960" y="3355848"/>
            <a:ext cx="100584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28537123" name="Text 29"/>
          <p:cNvSpPr/>
          <p:nvPr/>
        </p:nvSpPr>
        <p:spPr bwMode="auto">
          <a:xfrm>
            <a:off x="7680960" y="33558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30 min</a:t>
            </a:r>
            <a:endParaRPr lang="en-US" sz="1100"/>
          </a:p>
        </p:txBody>
      </p:sp>
      <p:sp>
        <p:nvSpPr>
          <p:cNvPr id="917537181" name="Shape 30"/>
          <p:cNvSpPr/>
          <p:nvPr/>
        </p:nvSpPr>
        <p:spPr bwMode="auto">
          <a:xfrm>
            <a:off x="274320" y="399592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56871459" name="Shape 31"/>
          <p:cNvSpPr/>
          <p:nvPr/>
        </p:nvSpPr>
        <p:spPr bwMode="auto">
          <a:xfrm>
            <a:off x="274320" y="3995928"/>
            <a:ext cx="493776" cy="6949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05829844" name="Text 32"/>
          <p:cNvSpPr/>
          <p:nvPr/>
        </p:nvSpPr>
        <p:spPr bwMode="auto">
          <a:xfrm>
            <a:off x="274320" y="3995928"/>
            <a:ext cx="493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5</a:t>
            </a:r>
            <a:endParaRPr lang="en-US" sz="2200"/>
          </a:p>
        </p:txBody>
      </p:sp>
      <p:sp>
        <p:nvSpPr>
          <p:cNvPr id="1539074582" name="Text 33"/>
          <p:cNvSpPr/>
          <p:nvPr/>
        </p:nvSpPr>
        <p:spPr bwMode="auto">
          <a:xfrm>
            <a:off x="877824" y="40507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Environnement de dev</a:t>
            </a:r>
            <a:endParaRPr lang="en-US" sz="1300"/>
          </a:p>
        </p:txBody>
      </p:sp>
      <p:sp>
        <p:nvSpPr>
          <p:cNvPr id="1680914681" name="Text 34"/>
          <p:cNvSpPr/>
          <p:nvPr/>
        </p:nvSpPr>
        <p:spPr bwMode="auto">
          <a:xfrm>
            <a:off x="877824" y="43251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6785"/>
                </a:solidFill>
                <a:latin typeface="Arial"/>
                <a:ea typeface="Arial"/>
                <a:cs typeface="Arial"/>
              </a:rPr>
              <a:t>libbpf, Makefile, frameworks</a:t>
            </a:r>
            <a:endParaRPr lang="en-US" sz="1000"/>
          </a:p>
        </p:txBody>
      </p:sp>
      <p:sp>
        <p:nvSpPr>
          <p:cNvPr id="1432688192" name="Shape 35"/>
          <p:cNvSpPr/>
          <p:nvPr/>
        </p:nvSpPr>
        <p:spPr bwMode="auto">
          <a:xfrm>
            <a:off x="7680960" y="4160519"/>
            <a:ext cx="1005840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05263554" name="Text 36"/>
          <p:cNvSpPr/>
          <p:nvPr/>
        </p:nvSpPr>
        <p:spPr bwMode="auto">
          <a:xfrm>
            <a:off x="7680960" y="4160519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25 min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531010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89496856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BLOC 1</a:t>
            </a:r>
            <a:endParaRPr lang="en-US" sz="1100"/>
          </a:p>
        </p:txBody>
      </p:sp>
      <p:sp>
        <p:nvSpPr>
          <p:cNvPr id="54092036" name="Text 2"/>
          <p:cNvSpPr/>
          <p:nvPr/>
        </p:nvSpPr>
        <p:spPr bwMode="auto">
          <a:xfrm>
            <a:off x="274320" y="11887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Pourquoi eBPF</a:t>
            </a:r>
            <a:endParaRPr lang="en-US" sz="4800"/>
          </a:p>
        </p:txBody>
      </p:sp>
      <p:sp>
        <p:nvSpPr>
          <p:cNvPr id="1767707311" name="Text 3"/>
          <p:cNvSpPr/>
          <p:nvPr/>
        </p:nvSpPr>
        <p:spPr bwMode="auto">
          <a:xfrm>
            <a:off x="274320" y="2560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00C8FF"/>
                </a:solidFill>
                <a:latin typeface="Arial"/>
                <a:ea typeface="Arial"/>
                <a:cs typeface="Arial"/>
              </a:rPr>
              <a:t>Le problème • L'historique • L'ecosysteme</a:t>
            </a:r>
            <a:endParaRPr lang="en-US" sz="1600"/>
          </a:p>
        </p:txBody>
      </p:sp>
      <p:sp>
        <p:nvSpPr>
          <p:cNvPr id="920025618" name="Text 4"/>
          <p:cNvSpPr/>
          <p:nvPr/>
        </p:nvSpPr>
        <p:spPr bwMode="auto">
          <a:xfrm>
            <a:off x="2743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4A6785"/>
                </a:solidFill>
                <a:latin typeface="Arial"/>
                <a:ea typeface="Arial"/>
                <a:cs typeface="Arial"/>
              </a:rPr>
              <a:t>30 minutes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628733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030536795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Le problème fondamental</a:t>
            </a:r>
            <a:endParaRPr lang="en-US" sz="1800"/>
          </a:p>
        </p:txBody>
      </p:sp>
      <p:sp>
        <p:nvSpPr>
          <p:cNvPr id="2033328503" name="Text 2"/>
          <p:cNvSpPr/>
          <p:nvPr/>
        </p:nvSpPr>
        <p:spPr bwMode="auto"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0D1B2A"/>
                </a:solidFill>
                <a:latin typeface="Arial"/>
                <a:ea typeface="Arial"/>
                <a:cs typeface="Arial"/>
              </a:rPr>
              <a:t>Observer où agir sur le kernel Linux sans le modifier ni le recompiler.</a:t>
            </a:r>
            <a:endParaRPr lang="en-US" sz="1300"/>
          </a:p>
        </p:txBody>
      </p:sp>
      <p:sp>
        <p:nvSpPr>
          <p:cNvPr id="554410818" name="Shape 3"/>
          <p:cNvSpPr/>
          <p:nvPr/>
        </p:nvSpPr>
        <p:spPr bwMode="auto">
          <a:xfrm>
            <a:off x="274320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84193775" name="Shape 4"/>
          <p:cNvSpPr/>
          <p:nvPr/>
        </p:nvSpPr>
        <p:spPr bwMode="auto">
          <a:xfrm>
            <a:off x="274320" y="1234440"/>
            <a:ext cx="201168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78530921" name="Text 5"/>
          <p:cNvSpPr/>
          <p:nvPr/>
        </p:nvSpPr>
        <p:spPr bwMode="auto">
          <a:xfrm>
            <a:off x="329184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Module kernel</a:t>
            </a:r>
            <a:endParaRPr lang="en-US" sz="1100"/>
          </a:p>
        </p:txBody>
      </p:sp>
      <p:sp>
        <p:nvSpPr>
          <p:cNvPr id="2011029866" name="Text 6"/>
          <p:cNvSpPr/>
          <p:nvPr/>
        </p:nvSpPr>
        <p:spPr bwMode="auto">
          <a:xfrm>
            <a:off x="365760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Crash possible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Fragile entre versions</a:t>
            </a:r>
            <a:endParaRPr lang="en-US" sz="1000"/>
          </a:p>
        </p:txBody>
      </p:sp>
      <p:sp>
        <p:nvSpPr>
          <p:cNvPr id="527284404" name="Shape 7"/>
          <p:cNvSpPr/>
          <p:nvPr/>
        </p:nvSpPr>
        <p:spPr bwMode="auto">
          <a:xfrm>
            <a:off x="548640" y="3145536"/>
            <a:ext cx="146304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94908092" name="Text 8"/>
          <p:cNvSpPr/>
          <p:nvPr/>
        </p:nvSpPr>
        <p:spPr bwMode="auto">
          <a:xfrm>
            <a:off x="548640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Risque HIGH</a:t>
            </a:r>
            <a:endParaRPr lang="en-US" sz="950"/>
          </a:p>
        </p:txBody>
      </p:sp>
      <p:sp>
        <p:nvSpPr>
          <p:cNvPr id="2064117521" name="Shape 9"/>
          <p:cNvSpPr/>
          <p:nvPr/>
        </p:nvSpPr>
        <p:spPr bwMode="auto">
          <a:xfrm>
            <a:off x="2450592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8234399" name="Shape 10"/>
          <p:cNvSpPr/>
          <p:nvPr/>
        </p:nvSpPr>
        <p:spPr bwMode="auto">
          <a:xfrm>
            <a:off x="2450592" y="1234440"/>
            <a:ext cx="201168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03137413" name="Text 11"/>
          <p:cNvSpPr/>
          <p:nvPr/>
        </p:nvSpPr>
        <p:spPr bwMode="auto">
          <a:xfrm>
            <a:off x="2505456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strace / ptrace</a:t>
            </a:r>
            <a:endParaRPr lang="en-US" sz="1100"/>
          </a:p>
        </p:txBody>
      </p:sp>
      <p:sp>
        <p:nvSpPr>
          <p:cNvPr id="1130897553" name="Text 12"/>
          <p:cNvSpPr/>
          <p:nvPr/>
        </p:nvSpPr>
        <p:spPr bwMode="auto">
          <a:xfrm>
            <a:off x="2542032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Overhead x10 a x100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Inutilisable en prod</a:t>
            </a:r>
            <a:endParaRPr lang="en-US" sz="1000"/>
          </a:p>
        </p:txBody>
      </p:sp>
      <p:sp>
        <p:nvSpPr>
          <p:cNvPr id="1207625970" name="Shape 13"/>
          <p:cNvSpPr/>
          <p:nvPr/>
        </p:nvSpPr>
        <p:spPr bwMode="auto">
          <a:xfrm>
            <a:off x="2724911" y="3145536"/>
            <a:ext cx="146304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00163523" name="Text 14"/>
          <p:cNvSpPr/>
          <p:nvPr/>
        </p:nvSpPr>
        <p:spPr bwMode="auto">
          <a:xfrm>
            <a:off x="2724911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Risque HIGH</a:t>
            </a:r>
            <a:endParaRPr lang="en-US" sz="950"/>
          </a:p>
        </p:txBody>
      </p:sp>
      <p:sp>
        <p:nvSpPr>
          <p:cNvPr id="466384612" name="Shape 15"/>
          <p:cNvSpPr/>
          <p:nvPr/>
        </p:nvSpPr>
        <p:spPr bwMode="auto">
          <a:xfrm>
            <a:off x="4626864" y="12344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65824703" name="Shape 16"/>
          <p:cNvSpPr/>
          <p:nvPr/>
        </p:nvSpPr>
        <p:spPr bwMode="auto">
          <a:xfrm>
            <a:off x="4626864" y="1234440"/>
            <a:ext cx="201168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00411243" name="Text 17"/>
          <p:cNvSpPr/>
          <p:nvPr/>
        </p:nvSpPr>
        <p:spPr bwMode="auto">
          <a:xfrm>
            <a:off x="4681728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Instrumentation app</a:t>
            </a:r>
            <a:endParaRPr lang="en-US" sz="1100"/>
          </a:p>
        </p:txBody>
      </p:sp>
      <p:sp>
        <p:nvSpPr>
          <p:cNvPr id="2106330199" name="Text 18"/>
          <p:cNvSpPr/>
          <p:nvPr/>
        </p:nvSpPr>
        <p:spPr bwMode="auto">
          <a:xfrm>
            <a:off x="4718304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Requiert le code source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Necessite un rechargement</a:t>
            </a:r>
            <a:endParaRPr lang="en-US" sz="1000"/>
          </a:p>
        </p:txBody>
      </p:sp>
      <p:sp>
        <p:nvSpPr>
          <p:cNvPr id="1131983932" name="Shape 19"/>
          <p:cNvSpPr/>
          <p:nvPr/>
        </p:nvSpPr>
        <p:spPr bwMode="auto">
          <a:xfrm>
            <a:off x="4901184" y="3145536"/>
            <a:ext cx="146304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80745737" name="Text 20"/>
          <p:cNvSpPr/>
          <p:nvPr/>
        </p:nvSpPr>
        <p:spPr bwMode="auto">
          <a:xfrm>
            <a:off x="4901184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Risque MED</a:t>
            </a:r>
            <a:endParaRPr lang="en-US" sz="950"/>
          </a:p>
        </p:txBody>
      </p:sp>
      <p:sp>
        <p:nvSpPr>
          <p:cNvPr id="104713074" name="Shape 21"/>
          <p:cNvSpPr/>
          <p:nvPr/>
        </p:nvSpPr>
        <p:spPr bwMode="auto">
          <a:xfrm>
            <a:off x="6803136" y="1234440"/>
            <a:ext cx="201168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02337546" name="Shape 22"/>
          <p:cNvSpPr/>
          <p:nvPr/>
        </p:nvSpPr>
        <p:spPr bwMode="auto">
          <a:xfrm>
            <a:off x="6803136" y="1234440"/>
            <a:ext cx="20116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39181374" name="Text 23"/>
          <p:cNvSpPr/>
          <p:nvPr/>
        </p:nvSpPr>
        <p:spPr bwMode="auto">
          <a:xfrm>
            <a:off x="6858000" y="123444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eBPF</a:t>
            </a:r>
            <a:endParaRPr lang="en-US" sz="1100"/>
          </a:p>
        </p:txBody>
      </p:sp>
      <p:sp>
        <p:nvSpPr>
          <p:cNvPr id="1491800992" name="Text 24"/>
          <p:cNvSpPr/>
          <p:nvPr/>
        </p:nvSpPr>
        <p:spPr bwMode="auto">
          <a:xfrm>
            <a:off x="6894576" y="1572768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4FC"/>
                </a:solidFill>
                <a:latin typeface="Arial"/>
                <a:ea typeface="Arial"/>
                <a:cs typeface="Arial"/>
              </a:rPr>
              <a:t>&lt; 1% overhead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AF4FC"/>
                </a:solidFill>
                <a:latin typeface="Arial"/>
                <a:ea typeface="Arial"/>
                <a:cs typeface="Arial"/>
              </a:rPr>
              <a:t>Pas de modification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AF4FC"/>
                </a:solidFill>
                <a:latin typeface="Arial"/>
                <a:ea typeface="Arial"/>
                <a:cs typeface="Arial"/>
              </a:rPr>
              <a:t>Safe (vérificateur)</a:t>
            </a:r>
            <a:endParaRPr lang="en-US" sz="1000"/>
          </a:p>
        </p:txBody>
      </p:sp>
      <p:sp>
        <p:nvSpPr>
          <p:cNvPr id="1486159025" name="Shape 25"/>
          <p:cNvSpPr/>
          <p:nvPr/>
        </p:nvSpPr>
        <p:spPr bwMode="auto">
          <a:xfrm>
            <a:off x="7077456" y="3145536"/>
            <a:ext cx="146304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25220481" name="Text 26"/>
          <p:cNvSpPr/>
          <p:nvPr/>
        </p:nvSpPr>
        <p:spPr bwMode="auto">
          <a:xfrm>
            <a:off x="7077456" y="31455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112442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021120909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Historique condense</a:t>
            </a:r>
            <a:endParaRPr lang="en-US" sz="1800"/>
          </a:p>
        </p:txBody>
      </p:sp>
      <p:sp>
        <p:nvSpPr>
          <p:cNvPr id="1916386895" name="Shape 2"/>
          <p:cNvSpPr/>
          <p:nvPr/>
        </p:nvSpPr>
        <p:spPr bwMode="auto">
          <a:xfrm>
            <a:off x="1600200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26606706" name="Shape 3"/>
          <p:cNvSpPr/>
          <p:nvPr/>
        </p:nvSpPr>
        <p:spPr bwMode="auto">
          <a:xfrm>
            <a:off x="685800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314087843" name="Text 4"/>
          <p:cNvSpPr/>
          <p:nvPr/>
        </p:nvSpPr>
        <p:spPr bwMode="auto">
          <a:xfrm>
            <a:off x="621792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1992</a:t>
            </a:r>
            <a:endParaRPr lang="en-US" sz="850"/>
          </a:p>
        </p:txBody>
      </p:sp>
      <p:sp>
        <p:nvSpPr>
          <p:cNvPr id="1995310883" name="Shape 5"/>
          <p:cNvSpPr/>
          <p:nvPr/>
        </p:nvSpPr>
        <p:spPr bwMode="auto">
          <a:xfrm>
            <a:off x="182880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49319039" name="Text 6"/>
          <p:cNvSpPr/>
          <p:nvPr/>
        </p:nvSpPr>
        <p:spPr bwMode="auto">
          <a:xfrm>
            <a:off x="237744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BPF classique</a:t>
            </a:r>
            <a:endParaRPr lang="en-US" sz="1100"/>
          </a:p>
        </p:txBody>
      </p:sp>
      <p:sp>
        <p:nvSpPr>
          <p:cNvPr id="146713187" name="Text 7"/>
          <p:cNvSpPr/>
          <p:nvPr/>
        </p:nvSpPr>
        <p:spPr bwMode="auto">
          <a:xfrm>
            <a:off x="237744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Filtrage paquets dans tcpdump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McCanne &amp; Jacobson, Berkeley</a:t>
            </a:r>
            <a:endParaRPr lang="en-US" sz="950"/>
          </a:p>
        </p:txBody>
      </p:sp>
      <p:sp>
        <p:nvSpPr>
          <p:cNvPr id="183520482" name="Shape 8"/>
          <p:cNvSpPr/>
          <p:nvPr/>
        </p:nvSpPr>
        <p:spPr bwMode="auto">
          <a:xfrm>
            <a:off x="3374136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33841536" name="Shape 9"/>
          <p:cNvSpPr/>
          <p:nvPr/>
        </p:nvSpPr>
        <p:spPr bwMode="auto">
          <a:xfrm>
            <a:off x="2459735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191653747" name="Text 10"/>
          <p:cNvSpPr/>
          <p:nvPr/>
        </p:nvSpPr>
        <p:spPr bwMode="auto">
          <a:xfrm>
            <a:off x="2395728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2014</a:t>
            </a:r>
            <a:endParaRPr lang="en-US" sz="850"/>
          </a:p>
        </p:txBody>
      </p:sp>
      <p:sp>
        <p:nvSpPr>
          <p:cNvPr id="1629224067" name="Shape 11"/>
          <p:cNvSpPr/>
          <p:nvPr/>
        </p:nvSpPr>
        <p:spPr bwMode="auto">
          <a:xfrm>
            <a:off x="1956816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16892423" name="Text 12"/>
          <p:cNvSpPr/>
          <p:nvPr/>
        </p:nvSpPr>
        <p:spPr bwMode="auto">
          <a:xfrm>
            <a:off x="2011680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eBPF generalise</a:t>
            </a:r>
            <a:endParaRPr lang="en-US" sz="1100"/>
          </a:p>
        </p:txBody>
      </p:sp>
      <p:sp>
        <p:nvSpPr>
          <p:cNvPr id="1311622146" name="Text 13"/>
          <p:cNvSpPr/>
          <p:nvPr/>
        </p:nvSpPr>
        <p:spPr bwMode="auto">
          <a:xfrm>
            <a:off x="2011680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Extension a tous les événements kernel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Alexei Starovoitov, Linux 3.18</a:t>
            </a:r>
            <a:endParaRPr lang="en-US" sz="950"/>
          </a:p>
        </p:txBody>
      </p:sp>
      <p:sp>
        <p:nvSpPr>
          <p:cNvPr id="74230219" name="Shape 14"/>
          <p:cNvSpPr/>
          <p:nvPr/>
        </p:nvSpPr>
        <p:spPr bwMode="auto">
          <a:xfrm>
            <a:off x="5148072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39654054" name="Shape 15"/>
          <p:cNvSpPr/>
          <p:nvPr/>
        </p:nvSpPr>
        <p:spPr bwMode="auto">
          <a:xfrm>
            <a:off x="4233672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342486996" name="Text 16"/>
          <p:cNvSpPr/>
          <p:nvPr/>
        </p:nvSpPr>
        <p:spPr bwMode="auto">
          <a:xfrm>
            <a:off x="4169664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2016</a:t>
            </a:r>
            <a:endParaRPr lang="en-US" sz="850"/>
          </a:p>
        </p:txBody>
      </p:sp>
      <p:sp>
        <p:nvSpPr>
          <p:cNvPr id="1150091562" name="Shape 17"/>
          <p:cNvSpPr/>
          <p:nvPr/>
        </p:nvSpPr>
        <p:spPr bwMode="auto">
          <a:xfrm>
            <a:off x="3730752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76000355" name="Text 18"/>
          <p:cNvSpPr/>
          <p:nvPr/>
        </p:nvSpPr>
        <p:spPr bwMode="auto">
          <a:xfrm>
            <a:off x="3785616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Cilium</a:t>
            </a:r>
            <a:endParaRPr lang="en-US" sz="1100"/>
          </a:p>
        </p:txBody>
      </p:sp>
      <p:sp>
        <p:nvSpPr>
          <p:cNvPr id="390818060" name="Text 19"/>
          <p:cNvSpPr/>
          <p:nvPr/>
        </p:nvSpPr>
        <p:spPr bwMode="auto">
          <a:xfrm>
            <a:off x="3785616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Premier CNI Kubernetes eBPF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Technologie sort de la recherche</a:t>
            </a:r>
            <a:endParaRPr lang="en-US" sz="950"/>
          </a:p>
        </p:txBody>
      </p:sp>
      <p:sp>
        <p:nvSpPr>
          <p:cNvPr id="20669344" name="Shape 20"/>
          <p:cNvSpPr/>
          <p:nvPr/>
        </p:nvSpPr>
        <p:spPr bwMode="auto">
          <a:xfrm>
            <a:off x="6922008" y="1408176"/>
            <a:ext cx="50292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84983018" name="Shape 21"/>
          <p:cNvSpPr/>
          <p:nvPr/>
        </p:nvSpPr>
        <p:spPr bwMode="auto">
          <a:xfrm>
            <a:off x="6007607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794965090" name="Text 22"/>
          <p:cNvSpPr/>
          <p:nvPr/>
        </p:nvSpPr>
        <p:spPr bwMode="auto">
          <a:xfrm>
            <a:off x="5943600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2018</a:t>
            </a:r>
            <a:endParaRPr lang="en-US" sz="850"/>
          </a:p>
        </p:txBody>
      </p:sp>
      <p:sp>
        <p:nvSpPr>
          <p:cNvPr id="1037236882" name="Shape 23"/>
          <p:cNvSpPr/>
          <p:nvPr/>
        </p:nvSpPr>
        <p:spPr bwMode="auto">
          <a:xfrm>
            <a:off x="5504687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84248505" name="Text 24"/>
          <p:cNvSpPr/>
          <p:nvPr/>
        </p:nvSpPr>
        <p:spPr bwMode="auto">
          <a:xfrm>
            <a:off x="5559552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BTF</a:t>
            </a:r>
            <a:endParaRPr lang="en-US" sz="1100"/>
          </a:p>
        </p:txBody>
      </p:sp>
      <p:sp>
        <p:nvSpPr>
          <p:cNvPr id="1443810896" name="Text 25"/>
          <p:cNvSpPr/>
          <p:nvPr/>
        </p:nvSpPr>
        <p:spPr bwMode="auto">
          <a:xfrm>
            <a:off x="5559552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BPF Type Format : métadonnées de types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Base du CO-RE et de la portabilité</a:t>
            </a:r>
            <a:endParaRPr lang="en-US" sz="950"/>
          </a:p>
        </p:txBody>
      </p:sp>
      <p:sp>
        <p:nvSpPr>
          <p:cNvPr id="843180590" name="Shape 26"/>
          <p:cNvSpPr/>
          <p:nvPr/>
        </p:nvSpPr>
        <p:spPr bwMode="auto">
          <a:xfrm>
            <a:off x="7781544" y="1170432"/>
            <a:ext cx="512064" cy="512064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757160330" name="Text 27"/>
          <p:cNvSpPr/>
          <p:nvPr/>
        </p:nvSpPr>
        <p:spPr bwMode="auto">
          <a:xfrm>
            <a:off x="7717536" y="117043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2020+</a:t>
            </a:r>
            <a:endParaRPr lang="en-US" sz="850"/>
          </a:p>
        </p:txBody>
      </p:sp>
      <p:sp>
        <p:nvSpPr>
          <p:cNvPr id="247840956" name="Shape 28"/>
          <p:cNvSpPr/>
          <p:nvPr/>
        </p:nvSpPr>
        <p:spPr bwMode="auto">
          <a:xfrm>
            <a:off x="7278624" y="1828800"/>
            <a:ext cx="16276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86326096" name="Text 29"/>
          <p:cNvSpPr/>
          <p:nvPr/>
        </p:nvSpPr>
        <p:spPr bwMode="auto">
          <a:xfrm>
            <a:off x="7333488" y="1901952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Production</a:t>
            </a:r>
            <a:endParaRPr lang="en-US" sz="1100"/>
          </a:p>
        </p:txBody>
      </p:sp>
      <p:sp>
        <p:nvSpPr>
          <p:cNvPr id="190057691" name="Text 30"/>
          <p:cNvSpPr/>
          <p:nvPr/>
        </p:nvSpPr>
        <p:spPr bwMode="auto">
          <a:xfrm>
            <a:off x="7333488" y="2304288"/>
            <a:ext cx="1517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Meta, Google, Netflix, Cloudflare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eBPF a grande echelle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521289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202632940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L'ecosysteme eBPF</a:t>
            </a:r>
            <a:endParaRPr lang="en-US" sz="1800"/>
          </a:p>
        </p:txBody>
      </p:sp>
      <p:sp>
        <p:nvSpPr>
          <p:cNvPr id="81453888" name="Shape 2"/>
          <p:cNvSpPr/>
          <p:nvPr/>
        </p:nvSpPr>
        <p:spPr bwMode="auto"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65274122" name="Shape 3"/>
          <p:cNvSpPr/>
          <p:nvPr/>
        </p:nvSpPr>
        <p:spPr bwMode="auto">
          <a:xfrm>
            <a:off x="274320" y="777240"/>
            <a:ext cx="914400" cy="192024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590159005" name="Text 4"/>
          <p:cNvSpPr/>
          <p:nvPr/>
        </p:nvSpPr>
        <p:spPr bwMode="auto">
          <a:xfrm>
            <a:off x="32004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Cilium</a:t>
            </a:r>
            <a:endParaRPr lang="en-US" sz="1000"/>
          </a:p>
        </p:txBody>
      </p:sp>
      <p:sp>
        <p:nvSpPr>
          <p:cNvPr id="1916576064" name="Text 5"/>
          <p:cNvSpPr/>
          <p:nvPr/>
        </p:nvSpPr>
        <p:spPr bwMode="auto">
          <a:xfrm>
            <a:off x="32004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Réseau</a:t>
            </a:r>
            <a:endParaRPr lang="en-US" sz="850"/>
          </a:p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Kubernetes</a:t>
            </a:r>
            <a:endParaRPr lang="en-US" sz="850"/>
          </a:p>
        </p:txBody>
      </p:sp>
      <p:sp>
        <p:nvSpPr>
          <p:cNvPr id="161606649" name="Text 6"/>
          <p:cNvSpPr/>
          <p:nvPr/>
        </p:nvSpPr>
        <p:spPr bwMode="auto">
          <a:xfrm>
            <a:off x="1280160" y="1051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CNI : network policy L7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load balancing sans kube-proxy</a:t>
            </a:r>
            <a:endParaRPr lang="en-US" sz="1100"/>
          </a:p>
        </p:txBody>
      </p:sp>
      <p:sp>
        <p:nvSpPr>
          <p:cNvPr id="285880763" name="Shape 7"/>
          <p:cNvSpPr/>
          <p:nvPr/>
        </p:nvSpPr>
        <p:spPr bwMode="auto">
          <a:xfrm>
            <a:off x="480060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37115990" name="Shape 8"/>
          <p:cNvSpPr/>
          <p:nvPr/>
        </p:nvSpPr>
        <p:spPr bwMode="auto">
          <a:xfrm>
            <a:off x="4800600" y="777240"/>
            <a:ext cx="91440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0840421" name="Text 9"/>
          <p:cNvSpPr/>
          <p:nvPr/>
        </p:nvSpPr>
        <p:spPr bwMode="auto">
          <a:xfrm>
            <a:off x="484632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Falco</a:t>
            </a:r>
            <a:endParaRPr lang="en-US" sz="1000"/>
          </a:p>
        </p:txBody>
      </p:sp>
      <p:sp>
        <p:nvSpPr>
          <p:cNvPr id="2007999355" name="Text 10"/>
          <p:cNvSpPr/>
          <p:nvPr/>
        </p:nvSpPr>
        <p:spPr bwMode="auto">
          <a:xfrm>
            <a:off x="484632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Sécurité</a:t>
            </a:r>
            <a:endParaRPr lang="en-US" sz="850"/>
          </a:p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runtime</a:t>
            </a:r>
            <a:endParaRPr lang="en-US" sz="850"/>
          </a:p>
        </p:txBody>
      </p:sp>
      <p:sp>
        <p:nvSpPr>
          <p:cNvPr id="1057277675" name="Text 11"/>
          <p:cNvSpPr/>
          <p:nvPr/>
        </p:nvSpPr>
        <p:spPr bwMode="auto">
          <a:xfrm>
            <a:off x="5806440" y="1051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Détection comportementale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evaluation règles sur syscalls</a:t>
            </a:r>
            <a:endParaRPr lang="en-US" sz="1100"/>
          </a:p>
        </p:txBody>
      </p:sp>
      <p:sp>
        <p:nvSpPr>
          <p:cNvPr id="582689978" name="Shape 12"/>
          <p:cNvSpPr/>
          <p:nvPr/>
        </p:nvSpPr>
        <p:spPr bwMode="auto"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19499104" name="Shape 13"/>
          <p:cNvSpPr/>
          <p:nvPr/>
        </p:nvSpPr>
        <p:spPr bwMode="auto">
          <a:xfrm>
            <a:off x="274320" y="2862072"/>
            <a:ext cx="914400" cy="1920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60589216" name="Text 14"/>
          <p:cNvSpPr/>
          <p:nvPr/>
        </p:nvSpPr>
        <p:spPr bwMode="auto">
          <a:xfrm>
            <a:off x="320040" y="29535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Tetragon</a:t>
            </a:r>
            <a:endParaRPr lang="en-US" sz="1000"/>
          </a:p>
        </p:txBody>
      </p:sp>
      <p:sp>
        <p:nvSpPr>
          <p:cNvPr id="710463668" name="Text 15"/>
          <p:cNvSpPr/>
          <p:nvPr/>
        </p:nvSpPr>
        <p:spPr bwMode="auto">
          <a:xfrm>
            <a:off x="320040" y="34564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Sécurité</a:t>
            </a:r>
            <a:endParaRPr lang="en-US" sz="850"/>
          </a:p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K8s</a:t>
            </a:r>
            <a:endParaRPr lang="en-US" sz="850"/>
          </a:p>
        </p:txBody>
      </p:sp>
      <p:sp>
        <p:nvSpPr>
          <p:cNvPr id="1532341697" name="Text 16"/>
          <p:cNvSpPr/>
          <p:nvPr/>
        </p:nvSpPr>
        <p:spPr bwMode="auto">
          <a:xfrm>
            <a:off x="1280160" y="31363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Pipeline événements sécurité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avec enforcement (kill)</a:t>
            </a:r>
            <a:endParaRPr lang="en-US" sz="1100"/>
          </a:p>
        </p:txBody>
      </p:sp>
      <p:sp>
        <p:nvSpPr>
          <p:cNvPr id="1012457194" name="Shape 17"/>
          <p:cNvSpPr/>
          <p:nvPr/>
        </p:nvSpPr>
        <p:spPr bwMode="auto">
          <a:xfrm>
            <a:off x="480060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66770512" name="Shape 18"/>
          <p:cNvSpPr/>
          <p:nvPr/>
        </p:nvSpPr>
        <p:spPr bwMode="auto">
          <a:xfrm>
            <a:off x="4800600" y="2862072"/>
            <a:ext cx="914400" cy="1920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7413572" name="Text 19"/>
          <p:cNvSpPr/>
          <p:nvPr/>
        </p:nvSpPr>
        <p:spPr bwMode="auto">
          <a:xfrm>
            <a:off x="4846320" y="29535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bcc / bpftrace</a:t>
            </a:r>
            <a:endParaRPr lang="en-US" sz="1000"/>
          </a:p>
        </p:txBody>
      </p:sp>
      <p:sp>
        <p:nvSpPr>
          <p:cNvPr id="1287316703" name="Text 20"/>
          <p:cNvSpPr/>
          <p:nvPr/>
        </p:nvSpPr>
        <p:spPr bwMode="auto">
          <a:xfrm>
            <a:off x="4846320" y="34564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Observabilité</a:t>
            </a:r>
            <a:endParaRPr lang="en-US" sz="850"/>
          </a:p>
          <a:p>
            <a:pPr marL="0" indent="0" algn="ctr">
              <a:buNone/>
              <a:defRPr/>
            </a:pPr>
            <a:r>
              <a:rPr lang="en-US" sz="850" i="1">
                <a:solidFill>
                  <a:srgbClr val="D0EAF8"/>
                </a:solidFill>
                <a:latin typeface="Arial"/>
                <a:ea typeface="Arial"/>
                <a:cs typeface="Arial"/>
              </a:rPr>
              <a:t>systeme</a:t>
            </a:r>
            <a:endParaRPr lang="en-US" sz="850"/>
          </a:p>
        </p:txBody>
      </p:sp>
      <p:sp>
        <p:nvSpPr>
          <p:cNvPr id="429296440" name="Text 21"/>
          <p:cNvSpPr/>
          <p:nvPr/>
        </p:nvSpPr>
        <p:spPr bwMode="auto">
          <a:xfrm>
            <a:off x="5806440" y="31363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Outils de traçage et profilage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communaute et apprentissage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834729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12408272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BLOC 2</a:t>
            </a:r>
            <a:endParaRPr lang="en-US" sz="1100"/>
          </a:p>
        </p:txBody>
      </p:sp>
      <p:sp>
        <p:nvSpPr>
          <p:cNvPr id="321728912" name="Text 2"/>
          <p:cNvSpPr/>
          <p:nvPr/>
        </p:nvSpPr>
        <p:spPr bwMode="auto">
          <a:xfrm>
            <a:off x="274320" y="11887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Architecture interne</a:t>
            </a:r>
            <a:endParaRPr lang="en-US" sz="4000"/>
          </a:p>
        </p:txBody>
      </p:sp>
      <p:sp>
        <p:nvSpPr>
          <p:cNvPr id="1131261255" name="Text 3"/>
          <p:cNvSpPr/>
          <p:nvPr/>
        </p:nvSpPr>
        <p:spPr bwMode="auto">
          <a:xfrm>
            <a:off x="274320" y="2560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00C8FF"/>
                </a:solidFill>
                <a:latin typeface="Arial"/>
                <a:ea typeface="Arial"/>
                <a:cs typeface="Arial"/>
              </a:rPr>
              <a:t>Cycle de vie • Maps • Types de programmes • BTF / CO-RE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078807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68330818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Cycle de vie d'un programme eBPF</a:t>
            </a:r>
            <a:endParaRPr lang="en-US" sz="1800"/>
          </a:p>
        </p:txBody>
      </p:sp>
      <p:sp>
        <p:nvSpPr>
          <p:cNvPr id="1127858434" name="Shape 2"/>
          <p:cNvSpPr/>
          <p:nvPr/>
        </p:nvSpPr>
        <p:spPr bwMode="auto">
          <a:xfrm>
            <a:off x="1737360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903018487" name="Text 3"/>
          <p:cNvSpPr/>
          <p:nvPr/>
        </p:nvSpPr>
        <p:spPr bwMode="auto">
          <a:xfrm>
            <a:off x="2029968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00C8FF"/>
                </a:solidFill>
                <a:latin typeface="Arial"/>
                <a:ea typeface="Arial"/>
                <a:cs typeface="Arial"/>
              </a:rPr>
              <a:t>▶</a:t>
            </a:r>
            <a:endParaRPr lang="en-US" sz="1400"/>
          </a:p>
        </p:txBody>
      </p:sp>
      <p:sp>
        <p:nvSpPr>
          <p:cNvPr id="716359492" name="Shape 4"/>
          <p:cNvSpPr/>
          <p:nvPr/>
        </p:nvSpPr>
        <p:spPr bwMode="auto">
          <a:xfrm>
            <a:off x="274320" y="822960"/>
            <a:ext cx="1572768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36066274" name="Shape 5"/>
          <p:cNvSpPr/>
          <p:nvPr/>
        </p:nvSpPr>
        <p:spPr bwMode="auto">
          <a:xfrm>
            <a:off x="274320" y="822960"/>
            <a:ext cx="1572768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53144396" name="Text 6"/>
          <p:cNvSpPr/>
          <p:nvPr/>
        </p:nvSpPr>
        <p:spPr bwMode="auto">
          <a:xfrm>
            <a:off x="274320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1</a:t>
            </a:r>
            <a:endParaRPr lang="en-US" sz="1400"/>
          </a:p>
        </p:txBody>
      </p:sp>
      <p:sp>
        <p:nvSpPr>
          <p:cNvPr id="1036655715" name="Text 7"/>
          <p:cNvSpPr/>
          <p:nvPr/>
        </p:nvSpPr>
        <p:spPr bwMode="auto">
          <a:xfrm>
            <a:off x="347472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28090"/>
                </a:solidFill>
                <a:latin typeface="Arial Black"/>
                <a:ea typeface="Arial Black"/>
                <a:cs typeface="Arial Black"/>
              </a:rPr>
              <a:t>Code source</a:t>
            </a:r>
            <a:endParaRPr lang="en-US" sz="1200"/>
          </a:p>
        </p:txBody>
      </p:sp>
      <p:sp>
        <p:nvSpPr>
          <p:cNvPr id="55340260" name="Text 8"/>
          <p:cNvSpPr/>
          <p:nvPr/>
        </p:nvSpPr>
        <p:spPr bwMode="auto">
          <a:xfrm>
            <a:off x="347472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C où Rust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clang -target bpf</a:t>
            </a:r>
            <a:endParaRPr lang="en-US" sz="1000"/>
          </a:p>
        </p:txBody>
      </p:sp>
      <p:sp>
        <p:nvSpPr>
          <p:cNvPr id="19604155" name="Shape 9"/>
          <p:cNvSpPr/>
          <p:nvPr/>
        </p:nvSpPr>
        <p:spPr bwMode="auto">
          <a:xfrm>
            <a:off x="3493008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98634986" name="Text 10"/>
          <p:cNvSpPr/>
          <p:nvPr/>
        </p:nvSpPr>
        <p:spPr bwMode="auto">
          <a:xfrm>
            <a:off x="3785616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00C8FF"/>
                </a:solidFill>
                <a:latin typeface="Arial"/>
                <a:ea typeface="Arial"/>
                <a:cs typeface="Arial"/>
              </a:rPr>
              <a:t>▶</a:t>
            </a:r>
            <a:endParaRPr lang="en-US" sz="1400"/>
          </a:p>
        </p:txBody>
      </p:sp>
      <p:sp>
        <p:nvSpPr>
          <p:cNvPr id="1451098917" name="Shape 11"/>
          <p:cNvSpPr/>
          <p:nvPr/>
        </p:nvSpPr>
        <p:spPr bwMode="auto">
          <a:xfrm>
            <a:off x="2029968" y="822960"/>
            <a:ext cx="1572768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4141269" name="Shape 12"/>
          <p:cNvSpPr/>
          <p:nvPr/>
        </p:nvSpPr>
        <p:spPr bwMode="auto">
          <a:xfrm>
            <a:off x="2029968" y="822960"/>
            <a:ext cx="1572768" cy="329184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228544757" name="Text 13"/>
          <p:cNvSpPr/>
          <p:nvPr/>
        </p:nvSpPr>
        <p:spPr bwMode="auto">
          <a:xfrm>
            <a:off x="2029968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1400"/>
          </a:p>
        </p:txBody>
      </p:sp>
      <p:sp>
        <p:nvSpPr>
          <p:cNvPr id="368016823" name="Text 14"/>
          <p:cNvSpPr/>
          <p:nvPr/>
        </p:nvSpPr>
        <p:spPr bwMode="auto">
          <a:xfrm>
            <a:off x="2103120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Bytecode</a:t>
            </a:r>
            <a:endParaRPr lang="en-US" sz="1200"/>
          </a:p>
        </p:txBody>
      </p:sp>
      <p:sp>
        <p:nvSpPr>
          <p:cNvPr id="2052709956" name="Text 15"/>
          <p:cNvSpPr/>
          <p:nvPr/>
        </p:nvSpPr>
        <p:spPr bwMode="auto">
          <a:xfrm>
            <a:off x="2103120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RISC 64 bits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11 registres</a:t>
            </a:r>
            <a:endParaRPr lang="en-US" sz="1000"/>
          </a:p>
        </p:txBody>
      </p:sp>
      <p:sp>
        <p:nvSpPr>
          <p:cNvPr id="226945077" name="Shape 16"/>
          <p:cNvSpPr/>
          <p:nvPr/>
        </p:nvSpPr>
        <p:spPr bwMode="auto">
          <a:xfrm>
            <a:off x="5248656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98700883" name="Text 17"/>
          <p:cNvSpPr/>
          <p:nvPr/>
        </p:nvSpPr>
        <p:spPr bwMode="auto">
          <a:xfrm>
            <a:off x="5541264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00C8FF"/>
                </a:solidFill>
                <a:latin typeface="Arial"/>
                <a:ea typeface="Arial"/>
                <a:cs typeface="Arial"/>
              </a:rPr>
              <a:t>▶</a:t>
            </a:r>
            <a:endParaRPr lang="en-US" sz="1400"/>
          </a:p>
        </p:txBody>
      </p:sp>
      <p:sp>
        <p:nvSpPr>
          <p:cNvPr id="96251760" name="Shape 18"/>
          <p:cNvSpPr/>
          <p:nvPr/>
        </p:nvSpPr>
        <p:spPr bwMode="auto">
          <a:xfrm>
            <a:off x="3785616" y="822960"/>
            <a:ext cx="1572768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23848670" name="Shape 19"/>
          <p:cNvSpPr/>
          <p:nvPr/>
        </p:nvSpPr>
        <p:spPr bwMode="auto">
          <a:xfrm>
            <a:off x="3785616" y="822960"/>
            <a:ext cx="1572768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46354786" name="Text 20"/>
          <p:cNvSpPr/>
          <p:nvPr/>
        </p:nvSpPr>
        <p:spPr bwMode="auto">
          <a:xfrm>
            <a:off x="3785616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1400"/>
          </a:p>
        </p:txBody>
      </p:sp>
      <p:sp>
        <p:nvSpPr>
          <p:cNvPr id="1138139959" name="Text 21"/>
          <p:cNvSpPr/>
          <p:nvPr/>
        </p:nvSpPr>
        <p:spPr bwMode="auto">
          <a:xfrm>
            <a:off x="3858768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Vérificateur</a:t>
            </a:r>
            <a:endParaRPr lang="en-US" sz="1200"/>
          </a:p>
        </p:txBody>
      </p:sp>
      <p:sp>
        <p:nvSpPr>
          <p:cNvPr id="144040418" name="Text 22"/>
          <p:cNvSpPr/>
          <p:nvPr/>
        </p:nvSpPr>
        <p:spPr bwMode="auto">
          <a:xfrm>
            <a:off x="3858768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Analyse statique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Sécurité + terminaison</a:t>
            </a:r>
            <a:endParaRPr lang="en-US" sz="1000"/>
          </a:p>
        </p:txBody>
      </p:sp>
      <p:sp>
        <p:nvSpPr>
          <p:cNvPr id="613736085" name="Shape 23"/>
          <p:cNvSpPr/>
          <p:nvPr/>
        </p:nvSpPr>
        <p:spPr bwMode="auto">
          <a:xfrm>
            <a:off x="7004304" y="1901952"/>
            <a:ext cx="36576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99013749" name="Text 24"/>
          <p:cNvSpPr/>
          <p:nvPr/>
        </p:nvSpPr>
        <p:spPr bwMode="auto">
          <a:xfrm>
            <a:off x="7296912" y="1783080"/>
            <a:ext cx="228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00C8FF"/>
                </a:solidFill>
                <a:latin typeface="Arial"/>
                <a:ea typeface="Arial"/>
                <a:cs typeface="Arial"/>
              </a:rPr>
              <a:t>▶</a:t>
            </a:r>
            <a:endParaRPr lang="en-US" sz="1400"/>
          </a:p>
        </p:txBody>
      </p:sp>
      <p:sp>
        <p:nvSpPr>
          <p:cNvPr id="1720710470" name="Shape 25"/>
          <p:cNvSpPr/>
          <p:nvPr/>
        </p:nvSpPr>
        <p:spPr bwMode="auto">
          <a:xfrm>
            <a:off x="5541264" y="822960"/>
            <a:ext cx="1572768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09325821" name="Shape 26"/>
          <p:cNvSpPr/>
          <p:nvPr/>
        </p:nvSpPr>
        <p:spPr bwMode="auto">
          <a:xfrm>
            <a:off x="5541264" y="822960"/>
            <a:ext cx="1572768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08531781" name="Text 27"/>
          <p:cNvSpPr/>
          <p:nvPr/>
        </p:nvSpPr>
        <p:spPr bwMode="auto">
          <a:xfrm>
            <a:off x="5541264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4</a:t>
            </a:r>
            <a:endParaRPr lang="en-US" sz="1400"/>
          </a:p>
        </p:txBody>
      </p:sp>
      <p:sp>
        <p:nvSpPr>
          <p:cNvPr id="1721100589" name="Text 28"/>
          <p:cNvSpPr/>
          <p:nvPr/>
        </p:nvSpPr>
        <p:spPr bwMode="auto">
          <a:xfrm>
            <a:off x="5614416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JIT</a:t>
            </a:r>
            <a:endParaRPr lang="en-US" sz="1200"/>
          </a:p>
        </p:txBody>
      </p:sp>
      <p:sp>
        <p:nvSpPr>
          <p:cNvPr id="628919164" name="Text 29"/>
          <p:cNvSpPr/>
          <p:nvPr/>
        </p:nvSpPr>
        <p:spPr bwMode="auto">
          <a:xfrm>
            <a:off x="5614416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Code natif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x86/ARM64</a:t>
            </a:r>
            <a:endParaRPr lang="en-US" sz="1000"/>
          </a:p>
        </p:txBody>
      </p:sp>
      <p:sp>
        <p:nvSpPr>
          <p:cNvPr id="2140921575" name="Shape 30"/>
          <p:cNvSpPr/>
          <p:nvPr/>
        </p:nvSpPr>
        <p:spPr bwMode="auto">
          <a:xfrm>
            <a:off x="7296912" y="822960"/>
            <a:ext cx="1572768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36112998" name="Shape 31"/>
          <p:cNvSpPr/>
          <p:nvPr/>
        </p:nvSpPr>
        <p:spPr bwMode="auto">
          <a:xfrm>
            <a:off x="7296912" y="822960"/>
            <a:ext cx="1572768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99217437" name="Text 32"/>
          <p:cNvSpPr/>
          <p:nvPr/>
        </p:nvSpPr>
        <p:spPr bwMode="auto">
          <a:xfrm>
            <a:off x="7296912" y="8229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5</a:t>
            </a:r>
            <a:endParaRPr lang="en-US" sz="1400"/>
          </a:p>
        </p:txBody>
      </p:sp>
      <p:sp>
        <p:nvSpPr>
          <p:cNvPr id="1633574291" name="Text 33"/>
          <p:cNvSpPr/>
          <p:nvPr/>
        </p:nvSpPr>
        <p:spPr bwMode="auto">
          <a:xfrm>
            <a:off x="7370064" y="122529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2C55E"/>
                </a:solidFill>
                <a:latin typeface="Arial Black"/>
                <a:ea typeface="Arial Black"/>
                <a:cs typeface="Arial Black"/>
              </a:rPr>
              <a:t>Exécution</a:t>
            </a:r>
            <a:endParaRPr lang="en-US" sz="1200"/>
          </a:p>
        </p:txBody>
      </p:sp>
      <p:sp>
        <p:nvSpPr>
          <p:cNvPr id="1896349392" name="Text 34"/>
          <p:cNvSpPr/>
          <p:nvPr/>
        </p:nvSpPr>
        <p:spPr bwMode="auto">
          <a:xfrm>
            <a:off x="7370064" y="1682496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Événementiel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Zero overhead si inactif</a:t>
            </a:r>
            <a:endParaRPr lang="en-US" sz="1000"/>
          </a:p>
        </p:txBody>
      </p:sp>
      <p:sp>
        <p:nvSpPr>
          <p:cNvPr id="2110400373" name="Text 35"/>
          <p:cNvSpPr/>
          <p:nvPr/>
        </p:nvSpPr>
        <p:spPr bwMode="auto">
          <a:xfrm>
            <a:off x="27432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i="1">
                <a:solidFill>
                  <a:srgbClr val="1E6FBF"/>
                </a:solidFill>
                <a:latin typeface="Arial"/>
                <a:ea typeface="Arial"/>
                <a:cs typeface="Arial"/>
              </a:rPr>
              <a:t>Le vérificateur s'exécute UNE SEULE FOIS au chargement. Après la compilation JIT, le code s'exécute directement dans le kernel.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503308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41345360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Les Maps : persistance et communication</a:t>
            </a:r>
            <a:endParaRPr lang="en-US" sz="1800"/>
          </a:p>
        </p:txBody>
      </p:sp>
      <p:sp>
        <p:nvSpPr>
          <p:cNvPr id="2064971696" name="Shape 2"/>
          <p:cNvSpPr/>
          <p:nvPr/>
        </p:nvSpPr>
        <p:spPr bwMode="auto">
          <a:xfrm>
            <a:off x="274320" y="777240"/>
            <a:ext cx="3474720" cy="41148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9611682" name="Text 3"/>
          <p:cNvSpPr/>
          <p:nvPr/>
        </p:nvSpPr>
        <p:spPr bwMode="auto">
          <a:xfrm>
            <a:off x="347472" y="822960"/>
            <a:ext cx="3328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0C8FF"/>
                </a:solidFill>
                <a:latin typeface="Arial"/>
                <a:ea typeface="Arial"/>
                <a:cs typeface="Arial"/>
              </a:rPr>
              <a:t>Kernel (programme eBPF)</a:t>
            </a:r>
            <a:endParaRPr lang="en-US" sz="950"/>
          </a:p>
        </p:txBody>
      </p:sp>
      <p:sp>
        <p:nvSpPr>
          <p:cNvPr id="12127143" name="Shape 4"/>
          <p:cNvSpPr/>
          <p:nvPr/>
        </p:nvSpPr>
        <p:spPr bwMode="auto">
          <a:xfrm>
            <a:off x="457200" y="1170432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68076797" name="Text 5"/>
          <p:cNvSpPr/>
          <p:nvPr/>
        </p:nvSpPr>
        <p:spPr bwMode="auto">
          <a:xfrm>
            <a:off x="512064" y="1188720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BPF_MAP_TYPE_HASH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cle/valeur : lookup O(1)</a:t>
            </a:r>
            <a:endParaRPr lang="en-US" sz="850"/>
          </a:p>
        </p:txBody>
      </p:sp>
      <p:sp>
        <p:nvSpPr>
          <p:cNvPr id="2135520207" name="Shape 6"/>
          <p:cNvSpPr/>
          <p:nvPr/>
        </p:nvSpPr>
        <p:spPr bwMode="auto">
          <a:xfrm>
            <a:off x="457200" y="1920240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73609861" name="Text 7"/>
          <p:cNvSpPr/>
          <p:nvPr/>
        </p:nvSpPr>
        <p:spPr bwMode="auto">
          <a:xfrm>
            <a:off x="512064" y="1938528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BPF_MAP_TYPE_RINGBUF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evenements zero-copy -&gt; userspace</a:t>
            </a:r>
            <a:endParaRPr lang="en-US" sz="850"/>
          </a:p>
        </p:txBody>
      </p:sp>
      <p:sp>
        <p:nvSpPr>
          <p:cNvPr id="802740184" name="Shape 8"/>
          <p:cNvSpPr/>
          <p:nvPr/>
        </p:nvSpPr>
        <p:spPr bwMode="auto">
          <a:xfrm>
            <a:off x="457200" y="2670048"/>
            <a:ext cx="31089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91478229" name="Text 9"/>
          <p:cNvSpPr/>
          <p:nvPr/>
        </p:nvSpPr>
        <p:spPr bwMode="auto">
          <a:xfrm>
            <a:off x="512064" y="2688336"/>
            <a:ext cx="29992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BPF_MAP_TYPE_PERCPU_HASH</a:t>
            </a:r>
            <a:endParaRPr lang="en-US" sz="850"/>
          </a:p>
          <a:p>
            <a:pPr marL="0" indent="0">
              <a:buNone/>
              <a:defRPr/>
            </a:pPr>
            <a:r>
              <a:rPr lang="en-US" sz="85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sans contention entre CPUs</a:t>
            </a:r>
            <a:endParaRPr lang="en-US" sz="850"/>
          </a:p>
        </p:txBody>
      </p:sp>
      <p:sp>
        <p:nvSpPr>
          <p:cNvPr id="1414432298" name="Shape 10"/>
          <p:cNvSpPr/>
          <p:nvPr/>
        </p:nvSpPr>
        <p:spPr bwMode="auto">
          <a:xfrm>
            <a:off x="3840480" y="2487168"/>
            <a:ext cx="54864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52636563" name="Text 11"/>
          <p:cNvSpPr/>
          <p:nvPr/>
        </p:nvSpPr>
        <p:spPr bwMode="auto">
          <a:xfrm>
            <a:off x="3877056" y="23042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00C8FF"/>
                </a:solidFill>
                <a:latin typeface="Arial"/>
                <a:ea typeface="Arial"/>
                <a:cs typeface="Arial"/>
              </a:rPr>
              <a:t>◀▶</a:t>
            </a:r>
            <a:endParaRPr lang="en-US" sz="1300"/>
          </a:p>
        </p:txBody>
      </p:sp>
      <p:sp>
        <p:nvSpPr>
          <p:cNvPr id="301422786" name="Text 12"/>
          <p:cNvSpPr/>
          <p:nvPr/>
        </p:nvSpPr>
        <p:spPr bwMode="auto">
          <a:xfrm>
            <a:off x="3749040" y="2724911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>
                <a:solidFill>
                  <a:srgbClr val="4A6785"/>
                </a:solidFill>
                <a:latin typeface="Arial"/>
                <a:ea typeface="Arial"/>
                <a:cs typeface="Arial"/>
              </a:rPr>
              <a:t>File</a:t>
            </a:r>
            <a:endParaRPr lang="en-US" sz="850"/>
          </a:p>
          <a:p>
            <a:pPr marL="0" indent="0" algn="ctr">
              <a:buNone/>
              <a:defRPr/>
            </a:pPr>
            <a:r>
              <a:rPr lang="en-US" sz="850">
                <a:solidFill>
                  <a:srgbClr val="4A6785"/>
                </a:solidFill>
                <a:latin typeface="Arial"/>
                <a:ea typeface="Arial"/>
                <a:cs typeface="Arial"/>
              </a:rPr>
              <a:t>Descriptor</a:t>
            </a:r>
            <a:endParaRPr lang="en-US" sz="850"/>
          </a:p>
        </p:txBody>
      </p:sp>
      <p:sp>
        <p:nvSpPr>
          <p:cNvPr id="1889906073" name="Shape 13"/>
          <p:cNvSpPr/>
          <p:nvPr/>
        </p:nvSpPr>
        <p:spPr bwMode="auto">
          <a:xfrm>
            <a:off x="4480560" y="777240"/>
            <a:ext cx="4389120" cy="4114800"/>
          </a:xfrm>
          <a:prstGeom prst="rect">
            <a:avLst/>
          </a:prstGeom>
          <a:solidFill>
            <a:srgbClr val="F0F8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83432178" name="Text 14"/>
          <p:cNvSpPr/>
          <p:nvPr/>
        </p:nvSpPr>
        <p:spPr bwMode="auto">
          <a:xfrm>
            <a:off x="4553712" y="822960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1E6FBF"/>
                </a:solidFill>
                <a:latin typeface="Arial"/>
                <a:ea typeface="Arial"/>
                <a:cs typeface="Arial"/>
              </a:rPr>
              <a:t>Userspace (daemon, outil de monitoring)</a:t>
            </a:r>
            <a:endParaRPr lang="en-US" sz="950"/>
          </a:p>
        </p:txBody>
      </p:sp>
      <p:sp>
        <p:nvSpPr>
          <p:cNvPr id="1350692285" name="Shape 15"/>
          <p:cNvSpPr/>
          <p:nvPr/>
        </p:nvSpPr>
        <p:spPr bwMode="auto">
          <a:xfrm>
            <a:off x="4617720" y="1170432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00820618" name="Text 16"/>
          <p:cNvSpPr/>
          <p:nvPr/>
        </p:nvSpPr>
        <p:spPr bwMode="auto">
          <a:xfrm>
            <a:off x="4681728" y="119786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E6FBF"/>
                </a:solidFill>
                <a:latin typeface="Consolas"/>
                <a:ea typeface="Consolas"/>
                <a:cs typeface="Consolas"/>
              </a:rPr>
              <a:t>bpf_map_lookup_elem()</a:t>
            </a:r>
            <a:endParaRPr lang="en-US" sz="900"/>
          </a:p>
        </p:txBody>
      </p:sp>
      <p:sp>
        <p:nvSpPr>
          <p:cNvPr id="1444169305" name="Text 17"/>
          <p:cNvSpPr/>
          <p:nvPr/>
        </p:nvSpPr>
        <p:spPr bwMode="auto">
          <a:xfrm>
            <a:off x="4681728" y="1444752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Chercher une valeur par clé — Retourne un pointeur où NULL</a:t>
            </a:r>
            <a:endParaRPr lang="en-US" sz="900"/>
          </a:p>
        </p:txBody>
      </p:sp>
      <p:sp>
        <p:nvSpPr>
          <p:cNvPr id="43016939" name="Shape 18"/>
          <p:cNvSpPr/>
          <p:nvPr/>
        </p:nvSpPr>
        <p:spPr bwMode="auto">
          <a:xfrm>
            <a:off x="4617720" y="1920240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05301421" name="Text 19"/>
          <p:cNvSpPr/>
          <p:nvPr/>
        </p:nvSpPr>
        <p:spPr bwMode="auto">
          <a:xfrm>
            <a:off x="4681728" y="1947671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E6FBF"/>
                </a:solidFill>
                <a:latin typeface="Consolas"/>
                <a:ea typeface="Consolas"/>
                <a:cs typeface="Consolas"/>
              </a:rPr>
              <a:t>bpf_map_update_elem()</a:t>
            </a:r>
            <a:endParaRPr lang="en-US" sz="900"/>
          </a:p>
        </p:txBody>
      </p:sp>
      <p:sp>
        <p:nvSpPr>
          <p:cNvPr id="1635188239" name="Text 20"/>
          <p:cNvSpPr/>
          <p:nvPr/>
        </p:nvSpPr>
        <p:spPr bwMode="auto">
          <a:xfrm>
            <a:off x="4681728" y="219456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Créer où modifier une entrée — Flags : ANY, NOEXIST, EXIST</a:t>
            </a:r>
            <a:endParaRPr lang="en-US" sz="900"/>
          </a:p>
        </p:txBody>
      </p:sp>
      <p:sp>
        <p:nvSpPr>
          <p:cNvPr id="2059591534" name="Shape 21"/>
          <p:cNvSpPr/>
          <p:nvPr/>
        </p:nvSpPr>
        <p:spPr bwMode="auto">
          <a:xfrm>
            <a:off x="4617720" y="2670048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76539323" name="Text 22"/>
          <p:cNvSpPr/>
          <p:nvPr/>
        </p:nvSpPr>
        <p:spPr bwMode="auto">
          <a:xfrm>
            <a:off x="4681728" y="269748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E6FBF"/>
                </a:solidFill>
                <a:latin typeface="Consolas"/>
                <a:ea typeface="Consolas"/>
                <a:cs typeface="Consolas"/>
              </a:rPr>
              <a:t>bpf_map_delete_elem()</a:t>
            </a:r>
            <a:endParaRPr lang="en-US" sz="900"/>
          </a:p>
        </p:txBody>
      </p:sp>
      <p:sp>
        <p:nvSpPr>
          <p:cNvPr id="1285272336" name="Text 23"/>
          <p:cNvSpPr/>
          <p:nvPr/>
        </p:nvSpPr>
        <p:spPr bwMode="auto">
          <a:xfrm>
            <a:off x="4681728" y="2944368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Supprimer une entrée — Côté kernel et userspace</a:t>
            </a:r>
            <a:endParaRPr lang="en-US" sz="900"/>
          </a:p>
        </p:txBody>
      </p:sp>
      <p:sp>
        <p:nvSpPr>
          <p:cNvPr id="172464070" name="Shape 24"/>
          <p:cNvSpPr/>
          <p:nvPr/>
        </p:nvSpPr>
        <p:spPr bwMode="auto">
          <a:xfrm>
            <a:off x="4617720" y="3419856"/>
            <a:ext cx="41330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91243249" name="Text 25"/>
          <p:cNvSpPr/>
          <p:nvPr/>
        </p:nvSpPr>
        <p:spPr bwMode="auto">
          <a:xfrm>
            <a:off x="4681728" y="344728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E6FBF"/>
                </a:solidFill>
                <a:latin typeface="Consolas"/>
                <a:ea typeface="Consolas"/>
                <a:cs typeface="Consolas"/>
              </a:rPr>
              <a:t>bpf_ringbuf_reserve()</a:t>
            </a:r>
            <a:endParaRPr lang="en-US" sz="900"/>
          </a:p>
        </p:txBody>
      </p:sp>
      <p:sp>
        <p:nvSpPr>
          <p:cNvPr id="735758099" name="Text 26"/>
          <p:cNvSpPr/>
          <p:nvPr/>
        </p:nvSpPr>
        <p:spPr bwMode="auto">
          <a:xfrm>
            <a:off x="4681728" y="369417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Réserver un slot d'événement — Zero-copy : pas de memcpy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013662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9709590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Types de programmes et points d'accroche</a:t>
            </a:r>
            <a:endParaRPr lang="en-US" sz="1800"/>
          </a:p>
        </p:txBody>
      </p:sp>
      <p:graphicFrame>
        <p:nvGraphicFramePr>
          <p:cNvPr id="107251658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749808"/>
          <a:ext cx="85953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94560"/>
                <a:gridCol w="2743200"/>
                <a:gridCol w="3657600"/>
              </a:tblGrid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Point d'accroche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Usage typique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kprobe / kretprobe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Entrée/sortie d'une fonction kernel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Traçage syscalls, debugging, détection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tracepoint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Point statique nomme (stable)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Observabilité en production : préférer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uprobe / uretprobe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Fonctions dans un binaire userspace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Traçage applicatif sans modifier le code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XDP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Reception paquet avant la stack réseau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Filtrage haute perf, DDoS mitigation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TC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File d'attente réseau ingress/egress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QoS, redirection, shaping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LSM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Hooks Linux Security Module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Controle d'accès programmatique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perf_event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Événements hardware/software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Profiling CPU, flamegraphs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2995663" name="Shape 2"/>
          <p:cNvSpPr/>
          <p:nvPr/>
        </p:nvSpPr>
        <p:spPr bwMode="auto">
          <a:xfrm>
            <a:off x="274320" y="4407408"/>
            <a:ext cx="8595360" cy="512064"/>
          </a:xfrm>
          <a:prstGeom prst="rect">
            <a:avLst/>
          </a:prstGeom>
          <a:solidFill>
            <a:srgbClr val="EAF4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21236638" name="Text 3"/>
          <p:cNvSpPr/>
          <p:nvPr/>
        </p:nvSpPr>
        <p:spPr bwMode="auto">
          <a:xfrm>
            <a:off x="365760" y="444398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E6FBF"/>
                </a:solidFill>
                <a:latin typeface="Arial"/>
                <a:ea typeface="Arial"/>
                <a:cs typeface="Arial"/>
              </a:rPr>
              <a:t>kprobe est instable (lie a une adresse)  •  tracepoint est stable (lie a un nom documente)  •  En production : toujours privilégier tracepoint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869285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27800730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BTF et CO-RE : portabilité entre kernels</a:t>
            </a:r>
            <a:endParaRPr lang="en-US" sz="1800"/>
          </a:p>
        </p:txBody>
      </p:sp>
      <p:sp>
        <p:nvSpPr>
          <p:cNvPr id="1838452645" name="Shape 2"/>
          <p:cNvSpPr/>
          <p:nvPr/>
        </p:nvSpPr>
        <p:spPr bwMode="auto">
          <a:xfrm>
            <a:off x="274320" y="777240"/>
            <a:ext cx="4023360" cy="4114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3772990" name="Text 3"/>
          <p:cNvSpPr/>
          <p:nvPr/>
        </p:nvSpPr>
        <p:spPr bwMode="auto">
          <a:xfrm>
            <a:off x="347472" y="822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❌  Sans BTF</a:t>
            </a:r>
            <a:endParaRPr lang="en-US" sz="1400"/>
          </a:p>
        </p:txBody>
      </p:sp>
      <p:sp>
        <p:nvSpPr>
          <p:cNvPr id="2125030999" name="Text 4"/>
          <p:cNvSpPr/>
          <p:nvPr/>
        </p:nvSpPr>
        <p:spPr bwMode="auto">
          <a:xfrm>
            <a:off x="384048" y="122529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Kernel 5.15 : struct task_struct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pid au byte offset 8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Programme compile sur 5.15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lit le byte 8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Kernel 5.10 : struct task_struct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pid au byte offset 4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Sur 5.10 : lecture du MAUVAIS offset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valeur erronee où crash</a:t>
            </a:r>
            <a:endParaRPr lang="en-US" sz="900"/>
          </a:p>
        </p:txBody>
      </p:sp>
      <p:sp>
        <p:nvSpPr>
          <p:cNvPr id="843127536" name="Text 5"/>
          <p:cNvSpPr/>
          <p:nvPr/>
        </p:nvSpPr>
        <p:spPr bwMode="auto">
          <a:xfrm>
            <a:off x="4325112" y="2377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4A6785"/>
                </a:solidFill>
                <a:latin typeface="Arial Black"/>
                <a:ea typeface="Arial Black"/>
                <a:cs typeface="Arial Black"/>
              </a:rPr>
              <a:t>VS</a:t>
            </a:r>
            <a:endParaRPr lang="en-US" sz="1400"/>
          </a:p>
        </p:txBody>
      </p:sp>
      <p:sp>
        <p:nvSpPr>
          <p:cNvPr id="972921946" name="Shape 6"/>
          <p:cNvSpPr/>
          <p:nvPr/>
        </p:nvSpPr>
        <p:spPr bwMode="auto">
          <a:xfrm>
            <a:off x="4846320" y="777240"/>
            <a:ext cx="4023360" cy="4114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62449017" name="Text 7"/>
          <p:cNvSpPr/>
          <p:nvPr/>
        </p:nvSpPr>
        <p:spPr bwMode="auto">
          <a:xfrm>
            <a:off x="4919471" y="82296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2C55E"/>
                </a:solidFill>
                <a:latin typeface="Arial Black"/>
                <a:ea typeface="Arial Black"/>
                <a:cs typeface="Arial Black"/>
              </a:rPr>
              <a:t>✓  Avec BTF + CO-RE</a:t>
            </a:r>
            <a:endParaRPr lang="en-US" sz="1400"/>
          </a:p>
        </p:txBody>
      </p:sp>
      <p:sp>
        <p:nvSpPr>
          <p:cNvPr id="245435121" name="Text 8"/>
          <p:cNvSpPr/>
          <p:nvPr/>
        </p:nvSpPr>
        <p:spPr bwMode="auto">
          <a:xfrm>
            <a:off x="4919471" y="122529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Compilation unique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binaire embarque les types BTF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Au chargement sur 5.10 :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kernel ajuste les offsets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selon sa propre version BTF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Au chargement sur 5.15 :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   → idem : ajustement automatique</a:t>
            </a:r>
            <a:endParaRPr lang="en-US" sz="900"/>
          </a:p>
          <a:p>
            <a:pPr marL="0" indent="0">
              <a:buNone/>
              <a:defRPr/>
            </a:pP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Consolas"/>
                <a:ea typeface="Consolas"/>
                <a:cs typeface="Consolas"/>
              </a:rPr>
              <a:t>Un seul binaire : tourne partout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85659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03939643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BLOC 3</a:t>
            </a:r>
            <a:endParaRPr lang="en-US" sz="1100"/>
          </a:p>
        </p:txBody>
      </p:sp>
      <p:sp>
        <p:nvSpPr>
          <p:cNvPr id="2035157884" name="Text 2"/>
          <p:cNvSpPr/>
          <p:nvPr/>
        </p:nvSpPr>
        <p:spPr bwMode="auto">
          <a:xfrm>
            <a:off x="274320" y="10058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400" b="1">
                <a:solidFill>
                  <a:srgbClr val="00C8FF"/>
                </a:solidFill>
                <a:latin typeface="Arial Black"/>
                <a:ea typeface="Arial Black"/>
                <a:cs typeface="Arial Black"/>
              </a:rPr>
              <a:t>bpftrace</a:t>
            </a:r>
            <a:endParaRPr lang="en-US" sz="6400"/>
          </a:p>
        </p:txBody>
      </p:sp>
      <p:sp>
        <p:nvSpPr>
          <p:cNvPr id="1262835529" name="Text 3"/>
          <p:cNvSpPr/>
          <p:nvPr/>
        </p:nvSpPr>
        <p:spPr bwMode="auto">
          <a:xfrm>
            <a:off x="274320" y="2468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Tracer sans écrire de C</a:t>
            </a:r>
            <a:endParaRPr lang="en-US" sz="2800"/>
          </a:p>
        </p:txBody>
      </p:sp>
      <p:sp>
        <p:nvSpPr>
          <p:cNvPr id="170070252" name="Text 4"/>
          <p:cNvSpPr/>
          <p:nvPr/>
        </p:nvSpPr>
        <p:spPr bwMode="auto"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6785"/>
                </a:solidFill>
                <a:latin typeface="Arial"/>
                <a:ea typeface="Arial"/>
                <a:cs typeface="Arial"/>
              </a:rPr>
              <a:t>Syntaxe • Probes • Builtins • Agrégations • Exercices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248465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53475794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Syntaxe generale</a:t>
            </a:r>
            <a:endParaRPr lang="en-US" sz="1800"/>
          </a:p>
        </p:txBody>
      </p:sp>
      <p:sp>
        <p:nvSpPr>
          <p:cNvPr id="607634193" name="Shape 2"/>
          <p:cNvSpPr/>
          <p:nvPr/>
        </p:nvSpPr>
        <p:spPr bwMode="auto">
          <a:xfrm>
            <a:off x="274320" y="749808"/>
            <a:ext cx="8595360" cy="91440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35094609" name="Text 3"/>
          <p:cNvSpPr/>
          <p:nvPr/>
        </p:nvSpPr>
        <p:spPr bwMode="auto">
          <a:xfrm>
            <a:off x="457200" y="8412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probe</a:t>
            </a:r>
            <a:endParaRPr lang="en-US" sz="2200"/>
          </a:p>
        </p:txBody>
      </p:sp>
      <p:sp>
        <p:nvSpPr>
          <p:cNvPr id="1990130220" name="Text 4"/>
          <p:cNvSpPr/>
          <p:nvPr/>
        </p:nvSpPr>
        <p:spPr bwMode="auto">
          <a:xfrm>
            <a:off x="1572768" y="8412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/predicat/</a:t>
            </a:r>
            <a:endParaRPr lang="en-US" sz="2200"/>
          </a:p>
        </p:txBody>
      </p:sp>
      <p:sp>
        <p:nvSpPr>
          <p:cNvPr id="1285820104" name="Text 5"/>
          <p:cNvSpPr/>
          <p:nvPr/>
        </p:nvSpPr>
        <p:spPr bwMode="auto">
          <a:xfrm>
            <a:off x="3419856" y="8412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{ action }</a:t>
            </a:r>
            <a:endParaRPr lang="en-US" sz="2200"/>
          </a:p>
        </p:txBody>
      </p:sp>
      <p:sp>
        <p:nvSpPr>
          <p:cNvPr id="1729975000" name="Text 6"/>
          <p:cNvSpPr/>
          <p:nvPr/>
        </p:nvSpPr>
        <p:spPr bwMode="auto">
          <a:xfrm>
            <a:off x="457200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00C8FF"/>
                </a:solidFill>
                <a:latin typeface="Arial"/>
                <a:ea typeface="Arial"/>
                <a:cs typeface="Arial"/>
              </a:rPr>
              <a:t>Quand s'exécuter</a:t>
            </a:r>
            <a:endParaRPr lang="en-US" sz="950"/>
          </a:p>
        </p:txBody>
      </p:sp>
      <p:sp>
        <p:nvSpPr>
          <p:cNvPr id="760072082" name="Text 7"/>
          <p:cNvSpPr/>
          <p:nvPr/>
        </p:nvSpPr>
        <p:spPr bwMode="auto">
          <a:xfrm>
            <a:off x="1572768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Filtre (optionnel)</a:t>
            </a:r>
            <a:endParaRPr lang="en-US" sz="950"/>
          </a:p>
        </p:txBody>
      </p:sp>
      <p:sp>
        <p:nvSpPr>
          <p:cNvPr id="1129660176" name="Text 8"/>
          <p:cNvSpPr/>
          <p:nvPr/>
        </p:nvSpPr>
        <p:spPr bwMode="auto">
          <a:xfrm>
            <a:off x="3419856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Ce qu'on fait</a:t>
            </a:r>
            <a:endParaRPr lang="en-US" sz="950"/>
          </a:p>
        </p:txBody>
      </p:sp>
      <p:sp>
        <p:nvSpPr>
          <p:cNvPr id="1173654919" name="Shape 9"/>
          <p:cNvSpPr/>
          <p:nvPr/>
        </p:nvSpPr>
        <p:spPr bwMode="auto">
          <a:xfrm>
            <a:off x="274320" y="2011680"/>
            <a:ext cx="8595360" cy="1280160"/>
          </a:xfrm>
          <a:prstGeom prst="rect">
            <a:avLst/>
          </a:prstGeom>
          <a:solidFill>
            <a:srgbClr val="162130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67335074" name="Text 10"/>
          <p:cNvSpPr/>
          <p:nvPr/>
        </p:nvSpPr>
        <p:spPr bwMode="auto">
          <a:xfrm>
            <a:off x="402336" y="2066544"/>
            <a:ext cx="83210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FA8"/>
                </a:solidFill>
                <a:latin typeface="Consolas"/>
                <a:ea typeface="Consolas"/>
                <a:cs typeface="Consolas"/>
              </a:rPr>
              <a:t># Surveiller toutes les ouvertures de fichiers</a:t>
            </a:r>
            <a:endParaRPr lang="en-US" sz="1000"/>
          </a:p>
        </p:txBody>
      </p:sp>
      <p:sp>
        <p:nvSpPr>
          <p:cNvPr id="1583899349" name="Text 11"/>
          <p:cNvSpPr/>
          <p:nvPr/>
        </p:nvSpPr>
        <p:spPr bwMode="auto">
          <a:xfrm>
            <a:off x="402336" y="2304288"/>
            <a:ext cx="8321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tracepoint:syscalls:sys_enter_openat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/uid != 0/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{</a:t>
            </a:r>
            <a:endParaRPr lang="en-US" sz="1100"/>
          </a:p>
        </p:txBody>
      </p:sp>
      <p:sp>
        <p:nvSpPr>
          <p:cNvPr id="894015340" name="Text 12"/>
          <p:cNvSpPr/>
          <p:nvPr/>
        </p:nvSpPr>
        <p:spPr bwMode="auto">
          <a:xfrm>
            <a:off x="402336" y="2578608"/>
            <a:ext cx="83210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    printf("%s -&gt; %s\n", comm, str(args-&gt;filename));</a:t>
            </a:r>
            <a:endParaRPr lang="en-US" sz="1100"/>
          </a:p>
        </p:txBody>
      </p:sp>
      <p:sp>
        <p:nvSpPr>
          <p:cNvPr id="1416982430" name="Text 13"/>
          <p:cNvSpPr/>
          <p:nvPr/>
        </p:nvSpPr>
        <p:spPr bwMode="auto">
          <a:xfrm>
            <a:off x="402336" y="283464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100"/>
          </a:p>
        </p:txBody>
      </p:sp>
      <p:sp>
        <p:nvSpPr>
          <p:cNvPr id="2067296159" name="Text 14"/>
          <p:cNvSpPr/>
          <p:nvPr/>
        </p:nvSpPr>
        <p:spPr bwMode="auto">
          <a:xfrm>
            <a:off x="274320" y="33832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Types de probes disponibles :</a:t>
            </a:r>
            <a:endParaRPr lang="en-US" sz="1100"/>
          </a:p>
        </p:txBody>
      </p:sp>
      <p:sp>
        <p:nvSpPr>
          <p:cNvPr id="1016483641" name="Shape 15"/>
          <p:cNvSpPr/>
          <p:nvPr/>
        </p:nvSpPr>
        <p:spPr bwMode="auto">
          <a:xfrm>
            <a:off x="274320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27980883" name="Text 16"/>
          <p:cNvSpPr/>
          <p:nvPr/>
        </p:nvSpPr>
        <p:spPr bwMode="auto">
          <a:xfrm>
            <a:off x="32918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E6FBF"/>
                </a:solidFill>
                <a:latin typeface="Consolas"/>
                <a:ea typeface="Consolas"/>
                <a:cs typeface="Consolas"/>
              </a:rPr>
              <a:t>kprobe:fn</a:t>
            </a:r>
            <a:endParaRPr lang="en-US" sz="900"/>
          </a:p>
        </p:txBody>
      </p:sp>
      <p:sp>
        <p:nvSpPr>
          <p:cNvPr id="574217484" name="Text 17"/>
          <p:cNvSpPr/>
          <p:nvPr/>
        </p:nvSpPr>
        <p:spPr bwMode="auto">
          <a:xfrm>
            <a:off x="329184" y="3895343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Entrée fct kernel</a:t>
            </a:r>
            <a:endParaRPr lang="en-US" sz="850"/>
          </a:p>
        </p:txBody>
      </p:sp>
      <p:sp>
        <p:nvSpPr>
          <p:cNvPr id="535643786" name="Shape 18"/>
          <p:cNvSpPr/>
          <p:nvPr/>
        </p:nvSpPr>
        <p:spPr bwMode="auto">
          <a:xfrm>
            <a:off x="3154680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8020662" name="Text 19"/>
          <p:cNvSpPr/>
          <p:nvPr/>
        </p:nvSpPr>
        <p:spPr bwMode="auto">
          <a:xfrm>
            <a:off x="320954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tracepoint:cat:nom</a:t>
            </a:r>
            <a:endParaRPr lang="en-US" sz="900"/>
          </a:p>
        </p:txBody>
      </p:sp>
      <p:sp>
        <p:nvSpPr>
          <p:cNvPr id="63536835" name="Text 20"/>
          <p:cNvSpPr/>
          <p:nvPr/>
        </p:nvSpPr>
        <p:spPr bwMode="auto">
          <a:xfrm>
            <a:off x="3209544" y="3895343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Tracepoint statique</a:t>
            </a:r>
            <a:endParaRPr lang="en-US" sz="850"/>
          </a:p>
        </p:txBody>
      </p:sp>
      <p:sp>
        <p:nvSpPr>
          <p:cNvPr id="1369430319" name="Shape 21"/>
          <p:cNvSpPr/>
          <p:nvPr/>
        </p:nvSpPr>
        <p:spPr bwMode="auto">
          <a:xfrm>
            <a:off x="6035039" y="3657600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36151893" name="Text 22"/>
          <p:cNvSpPr/>
          <p:nvPr/>
        </p:nvSpPr>
        <p:spPr bwMode="auto">
          <a:xfrm>
            <a:off x="6089904" y="36758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uprobe:bin:fn</a:t>
            </a:r>
            <a:endParaRPr lang="en-US" sz="900"/>
          </a:p>
        </p:txBody>
      </p:sp>
      <p:sp>
        <p:nvSpPr>
          <p:cNvPr id="217374698" name="Text 23"/>
          <p:cNvSpPr/>
          <p:nvPr/>
        </p:nvSpPr>
        <p:spPr bwMode="auto">
          <a:xfrm>
            <a:off x="6089904" y="3895343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Fct userspace</a:t>
            </a:r>
            <a:endParaRPr lang="en-US" sz="850"/>
          </a:p>
        </p:txBody>
      </p:sp>
      <p:sp>
        <p:nvSpPr>
          <p:cNvPr id="2002010076" name="Shape 24"/>
          <p:cNvSpPr/>
          <p:nvPr/>
        </p:nvSpPr>
        <p:spPr bwMode="auto">
          <a:xfrm>
            <a:off x="274320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2905833" name="Text 25"/>
          <p:cNvSpPr/>
          <p:nvPr/>
        </p:nvSpPr>
        <p:spPr bwMode="auto">
          <a:xfrm>
            <a:off x="32918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interval:s:N</a:t>
            </a:r>
            <a:endParaRPr lang="en-US" sz="900"/>
          </a:p>
        </p:txBody>
      </p:sp>
      <p:sp>
        <p:nvSpPr>
          <p:cNvPr id="1579119880" name="Text 26"/>
          <p:cNvSpPr/>
          <p:nvPr/>
        </p:nvSpPr>
        <p:spPr bwMode="auto">
          <a:xfrm>
            <a:off x="32918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Timer périodique</a:t>
            </a:r>
            <a:endParaRPr lang="en-US" sz="850"/>
          </a:p>
        </p:txBody>
      </p:sp>
      <p:sp>
        <p:nvSpPr>
          <p:cNvPr id="1742530091" name="Shape 27"/>
          <p:cNvSpPr/>
          <p:nvPr/>
        </p:nvSpPr>
        <p:spPr bwMode="auto">
          <a:xfrm>
            <a:off x="3154680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25277165" name="Text 28"/>
          <p:cNvSpPr/>
          <p:nvPr/>
        </p:nvSpPr>
        <p:spPr bwMode="auto">
          <a:xfrm>
            <a:off x="320954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profile:hz:N</a:t>
            </a:r>
            <a:endParaRPr lang="en-US" sz="900"/>
          </a:p>
        </p:txBody>
      </p:sp>
      <p:sp>
        <p:nvSpPr>
          <p:cNvPr id="1853659861" name="Text 29"/>
          <p:cNvSpPr/>
          <p:nvPr/>
        </p:nvSpPr>
        <p:spPr bwMode="auto">
          <a:xfrm>
            <a:off x="320954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Sampling CPU</a:t>
            </a:r>
            <a:endParaRPr lang="en-US" sz="850"/>
          </a:p>
        </p:txBody>
      </p:sp>
      <p:sp>
        <p:nvSpPr>
          <p:cNvPr id="2124393340" name="Shape 30"/>
          <p:cNvSpPr/>
          <p:nvPr/>
        </p:nvSpPr>
        <p:spPr bwMode="auto">
          <a:xfrm>
            <a:off x="6035039" y="4224528"/>
            <a:ext cx="2788920" cy="475488"/>
          </a:xfrm>
          <a:prstGeom prst="rect">
            <a:avLst/>
          </a:prstGeom>
          <a:solidFill>
            <a:srgbClr val="EAF4FC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1590654308" name="Text 31"/>
          <p:cNvSpPr/>
          <p:nvPr/>
        </p:nvSpPr>
        <p:spPr bwMode="auto">
          <a:xfrm>
            <a:off x="6089904" y="4242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4A6785"/>
                </a:solidFill>
                <a:latin typeface="Consolas"/>
                <a:ea typeface="Consolas"/>
                <a:cs typeface="Consolas"/>
              </a:rPr>
              <a:t>BEGIN / END</a:t>
            </a:r>
            <a:endParaRPr lang="en-US" sz="900"/>
          </a:p>
        </p:txBody>
      </p:sp>
      <p:sp>
        <p:nvSpPr>
          <p:cNvPr id="1804067582" name="Text 32"/>
          <p:cNvSpPr/>
          <p:nvPr/>
        </p:nvSpPr>
        <p:spPr bwMode="auto">
          <a:xfrm>
            <a:off x="6089904" y="4462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0D1B2A"/>
                </a:solidFill>
                <a:latin typeface="Arial"/>
                <a:ea typeface="Arial"/>
                <a:cs typeface="Arial"/>
              </a:rPr>
              <a:t>Debut / arret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17122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4642641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Variables et fonctions cles</a:t>
            </a:r>
            <a:endParaRPr lang="en-US" sz="1800"/>
          </a:p>
        </p:txBody>
      </p:sp>
      <p:graphicFrame>
        <p:nvGraphicFramePr>
          <p:cNvPr id="45608239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749808"/>
          <a:ext cx="859536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377440"/>
                <a:gridCol w="3291840"/>
                <a:gridCol w="2926080"/>
              </a:tblGrid>
              <a:tr h="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Builtin / Fonction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Exemple</a:t>
                      </a:r>
                      <a:endParaRPr lang="en-US" sz="10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1E6FB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pid / tid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PID et Thread ID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if (pid == 1234) {...}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uid / gid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UID et GID effectifs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if (uid == 0) { ... }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comm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Nom du processus (16 char)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printf("%s", comm)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nsecs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Timestamp monotone en ns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@s[tid] = nsecs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args-&gt;champ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Argument d'un tracepoint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str(args-&gt;filename)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retval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Valeur de retour (kretprobe)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if (retval &lt; 0) { ... }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str(ptr)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Convertir char* en string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str(args-&gt;filename)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hist(val)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Histogramme exp2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@lat = hist(nsecs-@s[tid])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count()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Compteur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@[comm] = count()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delete(@m[k])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Supprimer une entrée de map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delete(@s[tid])</a:t>
                      </a:r>
                      <a:endParaRPr lang="en-US"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C5D8EA"/>
                      </a:solidFill>
                    </a:lnL>
                    <a:lnR w="6350" algn="ctr">
                      <a:solidFill>
                        <a:srgbClr val="C5D8EA"/>
                      </a:solidFill>
                    </a:lnR>
                    <a:lnT w="6350" algn="ctr">
                      <a:solidFill>
                        <a:srgbClr val="C5D8EA"/>
                      </a:solidFill>
                    </a:lnT>
                    <a:lnB w="6350" algn="ctr">
                      <a:solidFill>
                        <a:srgbClr val="C5D8EA"/>
                      </a:solidFill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5843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91113187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Pattern de mesure de latence</a:t>
            </a:r>
            <a:endParaRPr lang="en-US" sz="1800"/>
          </a:p>
        </p:txBody>
      </p:sp>
      <p:sp>
        <p:nvSpPr>
          <p:cNvPr id="1762479067" name="Text 2"/>
          <p:cNvSpPr/>
          <p:nvPr/>
        </p:nvSpPr>
        <p:spPr bwMode="auto"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Pattern standard : stocker le timestamp a l'entrée, calculer la duree au retour.</a:t>
            </a:r>
            <a:endParaRPr lang="en-US" sz="1200"/>
          </a:p>
        </p:txBody>
      </p:sp>
      <p:sp>
        <p:nvSpPr>
          <p:cNvPr id="309866782" name="Shape 3"/>
          <p:cNvSpPr/>
          <p:nvPr/>
        </p:nvSpPr>
        <p:spPr bwMode="auto">
          <a:xfrm>
            <a:off x="274320" y="1115568"/>
            <a:ext cx="5303520" cy="3474720"/>
          </a:xfrm>
          <a:prstGeom prst="rect">
            <a:avLst/>
          </a:prstGeom>
          <a:solidFill>
            <a:srgbClr val="16213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01956892" name="Text 4"/>
          <p:cNvSpPr/>
          <p:nvPr/>
        </p:nvSpPr>
        <p:spPr bwMode="auto">
          <a:xfrm>
            <a:off x="402336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8FA8"/>
                </a:solidFill>
                <a:latin typeface="Consolas"/>
                <a:ea typeface="Consolas"/>
                <a:cs typeface="Consolas"/>
              </a:rPr>
              <a:t># 1. A l'ENTREE : stocker le timestamp</a:t>
            </a:r>
            <a:endParaRPr lang="en-US" sz="1050"/>
          </a:p>
        </p:txBody>
      </p:sp>
      <p:sp>
        <p:nvSpPr>
          <p:cNvPr id="1014302810" name="Text 5"/>
          <p:cNvSpPr/>
          <p:nvPr/>
        </p:nvSpPr>
        <p:spPr bwMode="auto">
          <a:xfrm>
            <a:off x="402336" y="14538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kprobe:vfs_read {</a:t>
            </a:r>
            <a:endParaRPr lang="en-US" sz="1050"/>
          </a:p>
        </p:txBody>
      </p:sp>
      <p:sp>
        <p:nvSpPr>
          <p:cNvPr id="1297411086" name="Text 6"/>
          <p:cNvSpPr/>
          <p:nvPr/>
        </p:nvSpPr>
        <p:spPr bwMode="auto">
          <a:xfrm>
            <a:off x="402336" y="1719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    @debut[tid] = nsecs;</a:t>
            </a:r>
            <a:endParaRPr lang="en-US" sz="1050"/>
          </a:p>
        </p:txBody>
      </p:sp>
      <p:sp>
        <p:nvSpPr>
          <p:cNvPr id="1420611168" name="Text 7"/>
          <p:cNvSpPr/>
          <p:nvPr/>
        </p:nvSpPr>
        <p:spPr bwMode="auto">
          <a:xfrm>
            <a:off x="402336" y="1984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050"/>
          </a:p>
        </p:txBody>
      </p:sp>
      <p:sp>
        <p:nvSpPr>
          <p:cNvPr id="2064253406" name="Text 8"/>
          <p:cNvSpPr/>
          <p:nvPr/>
        </p:nvSpPr>
        <p:spPr bwMode="auto">
          <a:xfrm>
            <a:off x="402336" y="22494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050"/>
          </a:p>
        </p:txBody>
      </p:sp>
      <p:sp>
        <p:nvSpPr>
          <p:cNvPr id="318938540" name="Text 9"/>
          <p:cNvSpPr/>
          <p:nvPr/>
        </p:nvSpPr>
        <p:spPr bwMode="auto">
          <a:xfrm>
            <a:off x="402336" y="2514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8FA8"/>
                </a:solidFill>
                <a:latin typeface="Consolas"/>
                <a:ea typeface="Consolas"/>
                <a:cs typeface="Consolas"/>
              </a:rPr>
              <a:t># 2. Au RETOUR : calculer la duree</a:t>
            </a:r>
            <a:endParaRPr lang="en-US" sz="1050"/>
          </a:p>
        </p:txBody>
      </p:sp>
      <p:sp>
        <p:nvSpPr>
          <p:cNvPr id="1508538469" name="Text 10"/>
          <p:cNvSpPr/>
          <p:nvPr/>
        </p:nvSpPr>
        <p:spPr bwMode="auto">
          <a:xfrm>
            <a:off x="402336" y="2779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kretprobe:vfs_read</a:t>
            </a:r>
            <a:endParaRPr lang="en-US" sz="1050"/>
          </a:p>
        </p:txBody>
      </p:sp>
      <p:sp>
        <p:nvSpPr>
          <p:cNvPr id="587430158" name="Text 11"/>
          <p:cNvSpPr/>
          <p:nvPr/>
        </p:nvSpPr>
        <p:spPr bwMode="auto">
          <a:xfrm>
            <a:off x="402336" y="3044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/@debut[tid]/</a:t>
            </a:r>
            <a:endParaRPr lang="en-US" sz="1050"/>
          </a:p>
        </p:txBody>
      </p:sp>
      <p:sp>
        <p:nvSpPr>
          <p:cNvPr id="1680220781" name="Text 12"/>
          <p:cNvSpPr/>
          <p:nvPr/>
        </p:nvSpPr>
        <p:spPr bwMode="auto">
          <a:xfrm>
            <a:off x="402336" y="3310127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1050"/>
          </a:p>
        </p:txBody>
      </p:sp>
      <p:sp>
        <p:nvSpPr>
          <p:cNvPr id="119755639" name="Text 13"/>
          <p:cNvSpPr/>
          <p:nvPr/>
        </p:nvSpPr>
        <p:spPr bwMode="auto">
          <a:xfrm>
            <a:off x="402336" y="3575303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    @lat[comm] = hist(nsecs - @debut[tid]);</a:t>
            </a:r>
            <a:endParaRPr lang="en-US" sz="1050"/>
          </a:p>
        </p:txBody>
      </p:sp>
      <p:sp>
        <p:nvSpPr>
          <p:cNvPr id="498484161" name="Text 14"/>
          <p:cNvSpPr/>
          <p:nvPr/>
        </p:nvSpPr>
        <p:spPr bwMode="auto">
          <a:xfrm>
            <a:off x="402336" y="38404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    delete(@debut[tid]);</a:t>
            </a:r>
            <a:endParaRPr lang="en-US" sz="1050"/>
          </a:p>
        </p:txBody>
      </p:sp>
      <p:sp>
        <p:nvSpPr>
          <p:cNvPr id="933862852" name="Text 15"/>
          <p:cNvSpPr/>
          <p:nvPr/>
        </p:nvSpPr>
        <p:spPr bwMode="auto">
          <a:xfrm>
            <a:off x="402336" y="41056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1050"/>
          </a:p>
        </p:txBody>
      </p:sp>
      <p:sp>
        <p:nvSpPr>
          <p:cNvPr id="1009575373" name="Shape 16"/>
          <p:cNvSpPr/>
          <p:nvPr/>
        </p:nvSpPr>
        <p:spPr bwMode="auto">
          <a:xfrm>
            <a:off x="5687568" y="1261872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72472247" name="Text 17"/>
          <p:cNvSpPr/>
          <p:nvPr/>
        </p:nvSpPr>
        <p:spPr bwMode="auto">
          <a:xfrm>
            <a:off x="5760720" y="1316736"/>
            <a:ext cx="30175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tid identifie le thread : plusieurs threads peuvent appeler vfs_read en parallèle</a:t>
            </a:r>
            <a:endParaRPr lang="en-US" sz="950"/>
          </a:p>
        </p:txBody>
      </p:sp>
      <p:sp>
        <p:nvSpPr>
          <p:cNvPr id="990554617" name="Shape 18"/>
          <p:cNvSpPr/>
          <p:nvPr/>
        </p:nvSpPr>
        <p:spPr bwMode="auto">
          <a:xfrm>
            <a:off x="5687568" y="2066544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45243167" name="Text 19"/>
          <p:cNvSpPr/>
          <p:nvPr/>
        </p:nvSpPr>
        <p:spPr bwMode="auto">
          <a:xfrm>
            <a:off x="5760720" y="2121408"/>
            <a:ext cx="30175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/@debut[tid]/ : predicat. S'exécute seulement si le timestamp existe</a:t>
            </a:r>
            <a:endParaRPr lang="en-US" sz="950"/>
          </a:p>
        </p:txBody>
      </p:sp>
      <p:sp>
        <p:nvSpPr>
          <p:cNvPr id="1908517201" name="Shape 20"/>
          <p:cNvSpPr/>
          <p:nvPr/>
        </p:nvSpPr>
        <p:spPr bwMode="auto">
          <a:xfrm>
            <a:off x="5687568" y="2926080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70839252" name="Text 21"/>
          <p:cNvSpPr/>
          <p:nvPr/>
        </p:nvSpPr>
        <p:spPr bwMode="auto">
          <a:xfrm>
            <a:off x="5760720" y="2980944"/>
            <a:ext cx="30175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La différence donne la duree du syscall en nanosecondes</a:t>
            </a:r>
            <a:endParaRPr lang="en-US" sz="950"/>
          </a:p>
        </p:txBody>
      </p:sp>
      <p:sp>
        <p:nvSpPr>
          <p:cNvPr id="168927137" name="Shape 22"/>
          <p:cNvSpPr/>
          <p:nvPr/>
        </p:nvSpPr>
        <p:spPr bwMode="auto">
          <a:xfrm>
            <a:off x="5687568" y="3218688"/>
            <a:ext cx="3182112" cy="749808"/>
          </a:xfrm>
          <a:prstGeom prst="rect">
            <a:avLst/>
          </a:prstGeom>
          <a:solidFill>
            <a:srgbClr val="EAF4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95723644" name="Text 23"/>
          <p:cNvSpPr/>
          <p:nvPr/>
        </p:nvSpPr>
        <p:spPr bwMode="auto">
          <a:xfrm>
            <a:off x="5760720" y="3273552"/>
            <a:ext cx="30175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OBLIGATOIRE : eviter une fuite mémoire dans la map @debut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358727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21821117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Exercices bpftrace (lab)</a:t>
            </a:r>
            <a:endParaRPr lang="en-US" sz="1800"/>
          </a:p>
        </p:txBody>
      </p:sp>
      <p:sp>
        <p:nvSpPr>
          <p:cNvPr id="746910273" name="Shape 2"/>
          <p:cNvSpPr/>
          <p:nvPr/>
        </p:nvSpPr>
        <p:spPr bwMode="auto">
          <a:xfrm>
            <a:off x="274320" y="777240"/>
            <a:ext cx="4160519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251821" name="Shape 3"/>
          <p:cNvSpPr/>
          <p:nvPr/>
        </p:nvSpPr>
        <p:spPr bwMode="auto">
          <a:xfrm>
            <a:off x="384048" y="886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27881806" name="Text 4"/>
          <p:cNvSpPr/>
          <p:nvPr/>
        </p:nvSpPr>
        <p:spPr bwMode="auto">
          <a:xfrm>
            <a:off x="384048" y="886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A</a:t>
            </a:r>
            <a:endParaRPr lang="en-US" sz="1600"/>
          </a:p>
        </p:txBody>
      </p:sp>
      <p:sp>
        <p:nvSpPr>
          <p:cNvPr id="1452551508" name="Text 5"/>
          <p:cNvSpPr/>
          <p:nvPr/>
        </p:nvSpPr>
        <p:spPr bwMode="auto">
          <a:xfrm>
            <a:off x="987552" y="90525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28090"/>
                </a:solidFill>
                <a:latin typeface="Arial Black"/>
                <a:ea typeface="Arial Black"/>
                <a:cs typeface="Arial Black"/>
              </a:rPr>
              <a:t>Qui ouvre des fichiers ?</a:t>
            </a:r>
            <a:endParaRPr lang="en-US" sz="1200"/>
          </a:p>
        </p:txBody>
      </p:sp>
      <p:sp>
        <p:nvSpPr>
          <p:cNvPr id="334781363" name="Text 6"/>
          <p:cNvSpPr/>
          <p:nvPr/>
        </p:nvSpPr>
        <p:spPr bwMode="auto">
          <a:xfrm>
            <a:off x="384048" y="14173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tracepoint:syscalls:sys_enter_openat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Afficher comm et args-&gt;filename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Filtrer sur /etc/ avec strncmp()</a:t>
            </a:r>
            <a:endParaRPr lang="en-US" sz="1000"/>
          </a:p>
        </p:txBody>
      </p:sp>
      <p:sp>
        <p:nvSpPr>
          <p:cNvPr id="791570287" name="Shape 7"/>
          <p:cNvSpPr/>
          <p:nvPr/>
        </p:nvSpPr>
        <p:spPr bwMode="auto">
          <a:xfrm>
            <a:off x="4617720" y="777240"/>
            <a:ext cx="4160519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4399548" name="Shape 8"/>
          <p:cNvSpPr/>
          <p:nvPr/>
        </p:nvSpPr>
        <p:spPr bwMode="auto">
          <a:xfrm>
            <a:off x="4727448" y="886968"/>
            <a:ext cx="512064" cy="512064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19815429" name="Text 9"/>
          <p:cNvSpPr/>
          <p:nvPr/>
        </p:nvSpPr>
        <p:spPr bwMode="auto">
          <a:xfrm>
            <a:off x="4727448" y="886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</a:t>
            </a:r>
            <a:endParaRPr lang="en-US" sz="1600"/>
          </a:p>
        </p:txBody>
      </p:sp>
      <p:sp>
        <p:nvSpPr>
          <p:cNvPr id="137635248" name="Text 10"/>
          <p:cNvSpPr/>
          <p:nvPr/>
        </p:nvSpPr>
        <p:spPr bwMode="auto">
          <a:xfrm>
            <a:off x="5330952" y="90525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6FBF"/>
                </a:solidFill>
                <a:latin typeface="Arial Black"/>
                <a:ea typeface="Arial Black"/>
                <a:cs typeface="Arial Black"/>
              </a:rPr>
              <a:t>Latence vfs_read</a:t>
            </a:r>
            <a:endParaRPr lang="en-US" sz="1200"/>
          </a:p>
        </p:txBody>
      </p:sp>
      <p:sp>
        <p:nvSpPr>
          <p:cNvPr id="1776576253" name="Text 11"/>
          <p:cNvSpPr/>
          <p:nvPr/>
        </p:nvSpPr>
        <p:spPr bwMode="auto">
          <a:xfrm>
            <a:off x="4727448" y="141732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Pattern entrée/retour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Histogramme par comm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Observer la distribution</a:t>
            </a:r>
            <a:endParaRPr lang="en-US" sz="1000"/>
          </a:p>
        </p:txBody>
      </p:sp>
      <p:sp>
        <p:nvSpPr>
          <p:cNvPr id="156645802" name="Shape 12"/>
          <p:cNvSpPr/>
          <p:nvPr/>
        </p:nvSpPr>
        <p:spPr bwMode="auto">
          <a:xfrm>
            <a:off x="274320" y="2880360"/>
            <a:ext cx="4160519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56297658" name="Shape 13"/>
          <p:cNvSpPr/>
          <p:nvPr/>
        </p:nvSpPr>
        <p:spPr bwMode="auto">
          <a:xfrm>
            <a:off x="384048" y="299008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3421645" name="Text 14"/>
          <p:cNvSpPr/>
          <p:nvPr/>
        </p:nvSpPr>
        <p:spPr bwMode="auto">
          <a:xfrm>
            <a:off x="384048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C</a:t>
            </a:r>
            <a:endParaRPr lang="en-US" sz="1600"/>
          </a:p>
        </p:txBody>
      </p:sp>
      <p:sp>
        <p:nvSpPr>
          <p:cNvPr id="523835165" name="Text 15"/>
          <p:cNvSpPr/>
          <p:nvPr/>
        </p:nvSpPr>
        <p:spPr bwMode="auto">
          <a:xfrm>
            <a:off x="987552" y="300837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8B5CF6"/>
                </a:solidFill>
                <a:latin typeface="Arial Black"/>
                <a:ea typeface="Arial Black"/>
                <a:cs typeface="Arial Black"/>
              </a:rPr>
              <a:t>Compteur de syscalls</a:t>
            </a:r>
            <a:endParaRPr lang="en-US" sz="1200"/>
          </a:p>
        </p:txBody>
      </p:sp>
      <p:sp>
        <p:nvSpPr>
          <p:cNvPr id="1265479679" name="Text 16"/>
          <p:cNvSpPr/>
          <p:nvPr/>
        </p:nvSpPr>
        <p:spPr bwMode="auto">
          <a:xfrm>
            <a:off x="384048" y="352044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tracepoint:raw_syscalls:sys_enter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Rafraichir toutes les 5 secondes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Top processus le plus actif</a:t>
            </a:r>
            <a:endParaRPr lang="en-US" sz="1000"/>
          </a:p>
        </p:txBody>
      </p:sp>
      <p:sp>
        <p:nvSpPr>
          <p:cNvPr id="885344008" name="Shape 17"/>
          <p:cNvSpPr/>
          <p:nvPr/>
        </p:nvSpPr>
        <p:spPr bwMode="auto">
          <a:xfrm>
            <a:off x="4617720" y="2880360"/>
            <a:ext cx="4160519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17556282" name="Shape 18"/>
          <p:cNvSpPr/>
          <p:nvPr/>
        </p:nvSpPr>
        <p:spPr bwMode="auto">
          <a:xfrm>
            <a:off x="4727448" y="2990088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08464695" name="Text 19"/>
          <p:cNvSpPr/>
          <p:nvPr/>
        </p:nvSpPr>
        <p:spPr bwMode="auto">
          <a:xfrm>
            <a:off x="4727448" y="2990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D</a:t>
            </a:r>
            <a:endParaRPr lang="en-US" sz="1600"/>
          </a:p>
        </p:txBody>
      </p:sp>
      <p:sp>
        <p:nvSpPr>
          <p:cNvPr id="161953331" name="Text 20"/>
          <p:cNvSpPr/>
          <p:nvPr/>
        </p:nvSpPr>
        <p:spPr bwMode="auto">
          <a:xfrm>
            <a:off x="5330952" y="3008376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2C55E"/>
                </a:solidFill>
                <a:latin typeface="Arial Black"/>
                <a:ea typeface="Arial Black"/>
                <a:cs typeface="Arial Black"/>
              </a:rPr>
              <a:t>Détecter les execve</a:t>
            </a:r>
            <a:endParaRPr lang="en-US" sz="1200"/>
          </a:p>
        </p:txBody>
      </p:sp>
      <p:sp>
        <p:nvSpPr>
          <p:cNvPr id="237784141" name="Text 21"/>
          <p:cNvSpPr/>
          <p:nvPr/>
        </p:nvSpPr>
        <p:spPr bwMode="auto">
          <a:xfrm>
            <a:off x="4727448" y="3520440"/>
            <a:ext cx="39136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tracepoint:syscalls:sys_enter_execve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Afficher pid, comm, args-&gt;filename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</a:rPr>
              <a:t>Filtrer sur comm == "bash"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778848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7140943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BLOC 4</a:t>
            </a:r>
            <a:endParaRPr lang="en-US" sz="1100"/>
          </a:p>
        </p:txBody>
      </p:sp>
      <p:sp>
        <p:nvSpPr>
          <p:cNvPr id="1464153837" name="Text 2"/>
          <p:cNvSpPr/>
          <p:nvPr/>
        </p:nvSpPr>
        <p:spPr bwMode="auto">
          <a:xfrm>
            <a:off x="274320" y="100584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Le vérificateur</a:t>
            </a:r>
            <a:endParaRPr lang="en-US" sz="5200"/>
          </a:p>
        </p:txBody>
      </p:sp>
      <p:sp>
        <p:nvSpPr>
          <p:cNvPr id="2073905518" name="Text 3"/>
          <p:cNvSpPr/>
          <p:nvPr/>
        </p:nvSpPr>
        <p:spPr bwMode="auto">
          <a:xfrm>
            <a:off x="274320" y="2377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00C8FF"/>
                </a:solidFill>
                <a:latin typeface="Arial"/>
                <a:ea typeface="Arial"/>
                <a:cs typeface="Arial"/>
              </a:rPr>
              <a:t>La barriere de sécurité d'eBPF</a:t>
            </a:r>
            <a:endParaRPr lang="en-US" sz="1800"/>
          </a:p>
        </p:txBody>
      </p:sp>
      <p:sp>
        <p:nvSpPr>
          <p:cNvPr id="42454345" name="Text 4"/>
          <p:cNvSpPr/>
          <p:nvPr/>
        </p:nvSpPr>
        <p:spPr bwMode="auto">
          <a:xfrm>
            <a:off x="274320" y="3017519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A6785"/>
                </a:solidFill>
                <a:latin typeface="Arial"/>
                <a:ea typeface="Arial"/>
                <a:cs typeface="Arial"/>
              </a:rPr>
              <a:t>Role • Ce qu'il vérifié • Erreurs courantes • Strategies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983821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78497698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Role du vérificateur</a:t>
            </a:r>
            <a:endParaRPr lang="en-US" sz="1800"/>
          </a:p>
        </p:txBody>
      </p:sp>
      <p:sp>
        <p:nvSpPr>
          <p:cNvPr id="1744998272" name="Text 2"/>
          <p:cNvSpPr/>
          <p:nvPr/>
        </p:nvSpPr>
        <p:spPr bwMode="auto"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i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S'exécute UNE SEULE FOIS, au chargement. Si accepte : exécution directe dans le kernel.</a:t>
            </a:r>
            <a:endParaRPr lang="en-US" sz="1200"/>
          </a:p>
        </p:txBody>
      </p:sp>
      <p:sp>
        <p:nvSpPr>
          <p:cNvPr id="1592546187" name="Shape 3"/>
          <p:cNvSpPr/>
          <p:nvPr/>
        </p:nvSpPr>
        <p:spPr bwMode="auto">
          <a:xfrm>
            <a:off x="274320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35160920" name="Shape 4"/>
          <p:cNvSpPr/>
          <p:nvPr/>
        </p:nvSpPr>
        <p:spPr bwMode="auto">
          <a:xfrm>
            <a:off x="274320" y="1188720"/>
            <a:ext cx="278892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28380891" name="Text 5"/>
          <p:cNvSpPr/>
          <p:nvPr/>
        </p:nvSpPr>
        <p:spPr bwMode="auto">
          <a:xfrm>
            <a:off x="34747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Terminaison</a:t>
            </a:r>
            <a:endParaRPr lang="en-US" sz="1100"/>
          </a:p>
        </p:txBody>
      </p:sp>
      <p:sp>
        <p:nvSpPr>
          <p:cNvPr id="1436876981" name="Text 6"/>
          <p:cNvSpPr/>
          <p:nvPr/>
        </p:nvSpPr>
        <p:spPr bwMode="auto">
          <a:xfrm>
            <a:off x="34747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Le programme DOIT se terminer. Pas de boucle infinie. Boucles autorisees si nombre d'iterations statiquement borné (kernel 5.3+).</a:t>
            </a:r>
            <a:endParaRPr lang="en-US" sz="950"/>
          </a:p>
        </p:txBody>
      </p:sp>
      <p:sp>
        <p:nvSpPr>
          <p:cNvPr id="1553320223" name="Shape 7"/>
          <p:cNvSpPr/>
          <p:nvPr/>
        </p:nvSpPr>
        <p:spPr bwMode="auto">
          <a:xfrm>
            <a:off x="3154680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85341857" name="Shape 8"/>
          <p:cNvSpPr/>
          <p:nvPr/>
        </p:nvSpPr>
        <p:spPr bwMode="auto">
          <a:xfrm>
            <a:off x="3154680" y="1188720"/>
            <a:ext cx="27889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46870371" name="Text 9"/>
          <p:cNvSpPr/>
          <p:nvPr/>
        </p:nvSpPr>
        <p:spPr bwMode="auto">
          <a:xfrm>
            <a:off x="322783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Mémoire bornee</a:t>
            </a:r>
            <a:endParaRPr lang="en-US" sz="1100"/>
          </a:p>
        </p:txBody>
      </p:sp>
      <p:sp>
        <p:nvSpPr>
          <p:cNvPr id="106405871" name="Text 10"/>
          <p:cNvSpPr/>
          <p:nvPr/>
        </p:nvSpPr>
        <p:spPr bwMode="auto">
          <a:xfrm>
            <a:off x="322783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Chaque accès mémoire est prouve valide dans toutes les branches. Les offsets dynamiques doivent etre bornés explicitement.</a:t>
            </a:r>
            <a:endParaRPr lang="en-US" sz="950"/>
          </a:p>
        </p:txBody>
      </p:sp>
      <p:sp>
        <p:nvSpPr>
          <p:cNvPr id="1041034353" name="Shape 11"/>
          <p:cNvSpPr/>
          <p:nvPr/>
        </p:nvSpPr>
        <p:spPr bwMode="auto">
          <a:xfrm>
            <a:off x="6035039" y="1188720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87012555" name="Shape 12"/>
          <p:cNvSpPr/>
          <p:nvPr/>
        </p:nvSpPr>
        <p:spPr bwMode="auto">
          <a:xfrm>
            <a:off x="6035039" y="1188720"/>
            <a:ext cx="27889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15840816" name="Text 13"/>
          <p:cNvSpPr/>
          <p:nvPr/>
        </p:nvSpPr>
        <p:spPr bwMode="auto">
          <a:xfrm>
            <a:off x="6108192" y="1188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Pointeurs nuls</a:t>
            </a:r>
            <a:endParaRPr lang="en-US" sz="1100"/>
          </a:p>
        </p:txBody>
      </p:sp>
      <p:sp>
        <p:nvSpPr>
          <p:cNvPr id="315731686" name="Text 14"/>
          <p:cNvSpPr/>
          <p:nvPr/>
        </p:nvSpPr>
        <p:spPr bwMode="auto">
          <a:xfrm>
            <a:off x="6108192" y="15179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Tout pointeur retourne par un helper (lookup, ringbuf_reserve) doit etre vérifié non-NULL avant déréférencement.</a:t>
            </a:r>
            <a:endParaRPr lang="en-US" sz="950"/>
          </a:p>
        </p:txBody>
      </p:sp>
      <p:sp>
        <p:nvSpPr>
          <p:cNvPr id="98138698" name="Shape 15"/>
          <p:cNvSpPr/>
          <p:nvPr/>
        </p:nvSpPr>
        <p:spPr bwMode="auto">
          <a:xfrm>
            <a:off x="274320" y="3017519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51236300" name="Shape 16"/>
          <p:cNvSpPr/>
          <p:nvPr/>
        </p:nvSpPr>
        <p:spPr bwMode="auto">
          <a:xfrm>
            <a:off x="274320" y="3017519"/>
            <a:ext cx="2788920" cy="27432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433729269" name="Text 17"/>
          <p:cNvSpPr/>
          <p:nvPr/>
        </p:nvSpPr>
        <p:spPr bwMode="auto">
          <a:xfrm>
            <a:off x="347472" y="301751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Taille de pile</a:t>
            </a:r>
            <a:endParaRPr lang="en-US" sz="1100"/>
          </a:p>
        </p:txBody>
      </p:sp>
      <p:sp>
        <p:nvSpPr>
          <p:cNvPr id="822285574" name="Text 18"/>
          <p:cNvSpPr/>
          <p:nvPr/>
        </p:nvSpPr>
        <p:spPr bwMode="auto">
          <a:xfrm>
            <a:off x="34747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Maximum 512 octets de variables locales. Grandes structures -&gt; maps scratch.</a:t>
            </a:r>
            <a:endParaRPr lang="en-US" sz="950"/>
          </a:p>
        </p:txBody>
      </p:sp>
      <p:sp>
        <p:nvSpPr>
          <p:cNvPr id="1640384072" name="Shape 19"/>
          <p:cNvSpPr/>
          <p:nvPr/>
        </p:nvSpPr>
        <p:spPr bwMode="auto">
          <a:xfrm>
            <a:off x="3154680" y="3017519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35374881" name="Shape 20"/>
          <p:cNvSpPr/>
          <p:nvPr/>
        </p:nvSpPr>
        <p:spPr bwMode="auto">
          <a:xfrm>
            <a:off x="3154680" y="3017519"/>
            <a:ext cx="27889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8709962" name="Text 21"/>
          <p:cNvSpPr/>
          <p:nvPr/>
        </p:nvSpPr>
        <p:spPr bwMode="auto">
          <a:xfrm>
            <a:off x="3227832" y="301751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Helpers autorises</a:t>
            </a:r>
            <a:endParaRPr lang="en-US" sz="1100"/>
          </a:p>
        </p:txBody>
      </p:sp>
      <p:sp>
        <p:nvSpPr>
          <p:cNvPr id="1939328725" name="Text 22"/>
          <p:cNvSpPr/>
          <p:nvPr/>
        </p:nvSpPr>
        <p:spPr bwMode="auto">
          <a:xfrm>
            <a:off x="322783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Chaque type de programme a une liste de helpers autorises. XDP != socket filter != kprobe.</a:t>
            </a:r>
            <a:endParaRPr lang="en-US" sz="950"/>
          </a:p>
        </p:txBody>
      </p:sp>
      <p:sp>
        <p:nvSpPr>
          <p:cNvPr id="144298310" name="Shape 23"/>
          <p:cNvSpPr/>
          <p:nvPr/>
        </p:nvSpPr>
        <p:spPr bwMode="auto">
          <a:xfrm>
            <a:off x="6035039" y="3017519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91554204" name="Shape 24"/>
          <p:cNvSpPr/>
          <p:nvPr/>
        </p:nvSpPr>
        <p:spPr bwMode="auto">
          <a:xfrm>
            <a:off x="6035039" y="3017519"/>
            <a:ext cx="27889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14197601" name="Text 25"/>
          <p:cNvSpPr/>
          <p:nvPr/>
        </p:nvSpPr>
        <p:spPr bwMode="auto">
          <a:xfrm>
            <a:off x="6108192" y="301751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Complexite</a:t>
            </a:r>
            <a:endParaRPr lang="en-US" sz="1100"/>
          </a:p>
        </p:txBody>
      </p:sp>
      <p:sp>
        <p:nvSpPr>
          <p:cNvPr id="790470296" name="Text 26"/>
          <p:cNvSpPr/>
          <p:nvPr/>
        </p:nvSpPr>
        <p:spPr bwMode="auto">
          <a:xfrm>
            <a:off x="6108192" y="3346704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Nombre d'instructions limite (1 million depuis kernel 5.8). Au-dela : tail calls.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97399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53114954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Erreurs courantes et corrections</a:t>
            </a:r>
            <a:endParaRPr lang="en-US" sz="1800"/>
          </a:p>
        </p:txBody>
      </p:sp>
      <p:sp>
        <p:nvSpPr>
          <p:cNvPr id="1026596963" name="Shape 2"/>
          <p:cNvSpPr/>
          <p:nvPr/>
        </p:nvSpPr>
        <p:spPr bwMode="auto">
          <a:xfrm>
            <a:off x="274320" y="749808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869845379" name="Text 3"/>
          <p:cNvSpPr/>
          <p:nvPr/>
        </p:nvSpPr>
        <p:spPr bwMode="auto">
          <a:xfrm>
            <a:off x="365760" y="7772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R0 invalid mem access 'map_value_or_null'</a:t>
            </a:r>
            <a:endParaRPr lang="en-US" sz="950"/>
          </a:p>
        </p:txBody>
      </p:sp>
      <p:sp>
        <p:nvSpPr>
          <p:cNvPr id="1857544660" name="Shape 4"/>
          <p:cNvSpPr/>
          <p:nvPr/>
        </p:nvSpPr>
        <p:spPr bwMode="auto">
          <a:xfrm>
            <a:off x="274320" y="1024128"/>
            <a:ext cx="4160519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662615" name="Text 5"/>
          <p:cNvSpPr/>
          <p:nvPr/>
        </p:nvSpPr>
        <p:spPr bwMode="auto">
          <a:xfrm>
            <a:off x="347472" y="1060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Cause</a:t>
            </a:r>
            <a:endParaRPr lang="en-US" sz="900"/>
          </a:p>
        </p:txBody>
      </p:sp>
      <p:sp>
        <p:nvSpPr>
          <p:cNvPr id="352396755" name="Text 6"/>
          <p:cNvSpPr/>
          <p:nvPr/>
        </p:nvSpPr>
        <p:spPr bwMode="auto">
          <a:xfrm>
            <a:off x="347472" y="1280160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bpf_map_lookup_elem() retourne NULL si absent.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Le pointeur n'est pas vérifié avant usage.</a:t>
            </a:r>
            <a:endParaRPr lang="en-US" sz="950"/>
          </a:p>
        </p:txBody>
      </p:sp>
      <p:sp>
        <p:nvSpPr>
          <p:cNvPr id="1106357935" name="Shape 7"/>
          <p:cNvSpPr/>
          <p:nvPr/>
        </p:nvSpPr>
        <p:spPr bwMode="auto">
          <a:xfrm>
            <a:off x="4526280" y="1024128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52955338" name="Text 8"/>
          <p:cNvSpPr/>
          <p:nvPr/>
        </p:nvSpPr>
        <p:spPr bwMode="auto">
          <a:xfrm>
            <a:off x="4590288" y="1060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Correction</a:t>
            </a:r>
            <a:endParaRPr lang="en-US" sz="900"/>
          </a:p>
        </p:txBody>
      </p:sp>
      <p:sp>
        <p:nvSpPr>
          <p:cNvPr id="538745157" name="Text 9"/>
          <p:cNvSpPr/>
          <p:nvPr/>
        </p:nvSpPr>
        <p:spPr bwMode="auto">
          <a:xfrm>
            <a:off x="4590288" y="1280160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Ajouter if (!val) return 0; après le lookup.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Le vérificateur sait alors que val != NULL.</a:t>
            </a:r>
            <a:endParaRPr lang="en-US" sz="950"/>
          </a:p>
        </p:txBody>
      </p:sp>
      <p:sp>
        <p:nvSpPr>
          <p:cNvPr id="865276733" name="Shape 10"/>
          <p:cNvSpPr/>
          <p:nvPr/>
        </p:nvSpPr>
        <p:spPr bwMode="auto">
          <a:xfrm>
            <a:off x="274320" y="2176272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102676590" name="Text 11"/>
          <p:cNvSpPr/>
          <p:nvPr/>
        </p:nvSpPr>
        <p:spPr bwMode="auto">
          <a:xfrm>
            <a:off x="365760" y="220370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combined stack size is 614. Too Large</a:t>
            </a:r>
            <a:endParaRPr lang="en-US" sz="950"/>
          </a:p>
        </p:txBody>
      </p:sp>
      <p:sp>
        <p:nvSpPr>
          <p:cNvPr id="169003488" name="Shape 12"/>
          <p:cNvSpPr/>
          <p:nvPr/>
        </p:nvSpPr>
        <p:spPr bwMode="auto">
          <a:xfrm>
            <a:off x="274320" y="2450592"/>
            <a:ext cx="4160519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49991757" name="Text 13"/>
          <p:cNvSpPr/>
          <p:nvPr/>
        </p:nvSpPr>
        <p:spPr bwMode="auto">
          <a:xfrm>
            <a:off x="347472" y="2487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Cause</a:t>
            </a:r>
            <a:endParaRPr lang="en-US" sz="900"/>
          </a:p>
        </p:txBody>
      </p:sp>
      <p:sp>
        <p:nvSpPr>
          <p:cNvPr id="1058921116" name="Text 14"/>
          <p:cNvSpPr/>
          <p:nvPr/>
        </p:nvSpPr>
        <p:spPr bwMode="auto">
          <a:xfrm>
            <a:off x="347472" y="2706624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Variables locales &gt; 512 octets.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char buf[600] depasse la limite.</a:t>
            </a:r>
            <a:endParaRPr lang="en-US" sz="950"/>
          </a:p>
        </p:txBody>
      </p:sp>
      <p:sp>
        <p:nvSpPr>
          <p:cNvPr id="471476891" name="Shape 15"/>
          <p:cNvSpPr/>
          <p:nvPr/>
        </p:nvSpPr>
        <p:spPr bwMode="auto">
          <a:xfrm>
            <a:off x="4526280" y="2450592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76085197" name="Text 16"/>
          <p:cNvSpPr/>
          <p:nvPr/>
        </p:nvSpPr>
        <p:spPr bwMode="auto">
          <a:xfrm>
            <a:off x="4590288" y="2487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Correction</a:t>
            </a:r>
            <a:endParaRPr lang="en-US" sz="900"/>
          </a:p>
        </p:txBody>
      </p:sp>
      <p:sp>
        <p:nvSpPr>
          <p:cNvPr id="758013983" name="Text 17"/>
          <p:cNvSpPr/>
          <p:nvPr/>
        </p:nvSpPr>
        <p:spPr bwMode="auto">
          <a:xfrm>
            <a:off x="4590288" y="2706624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Reduire le buffer.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OU utiliser une map PERCPU_ARRAY comme scratch.</a:t>
            </a:r>
            <a:endParaRPr lang="en-US" sz="950"/>
          </a:p>
        </p:txBody>
      </p:sp>
      <p:sp>
        <p:nvSpPr>
          <p:cNvPr id="131560215" name="Shape 18"/>
          <p:cNvSpPr/>
          <p:nvPr/>
        </p:nvSpPr>
        <p:spPr bwMode="auto">
          <a:xfrm>
            <a:off x="274320" y="3602735"/>
            <a:ext cx="8595360" cy="274320"/>
          </a:xfrm>
          <a:prstGeom prst="rect">
            <a:avLst/>
          </a:prstGeom>
          <a:solidFill>
            <a:srgbClr val="162130"/>
          </a:solidFill>
          <a:ln/>
        </p:spPr>
      </p:sp>
      <p:sp>
        <p:nvSpPr>
          <p:cNvPr id="432450851" name="Text 19"/>
          <p:cNvSpPr/>
          <p:nvPr/>
        </p:nvSpPr>
        <p:spPr bwMode="auto">
          <a:xfrm>
            <a:off x="365760" y="36301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invalid access to map value off=68 size=4</a:t>
            </a:r>
            <a:endParaRPr lang="en-US" sz="950"/>
          </a:p>
        </p:txBody>
      </p:sp>
      <p:sp>
        <p:nvSpPr>
          <p:cNvPr id="185097854" name="Shape 20"/>
          <p:cNvSpPr/>
          <p:nvPr/>
        </p:nvSpPr>
        <p:spPr bwMode="auto">
          <a:xfrm>
            <a:off x="274320" y="3877056"/>
            <a:ext cx="4160519" cy="1060704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1060453" name="Text 21"/>
          <p:cNvSpPr/>
          <p:nvPr/>
        </p:nvSpPr>
        <p:spPr bwMode="auto">
          <a:xfrm>
            <a:off x="347472" y="3913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Cause</a:t>
            </a:r>
            <a:endParaRPr lang="en-US" sz="900"/>
          </a:p>
        </p:txBody>
      </p:sp>
      <p:sp>
        <p:nvSpPr>
          <p:cNvPr id="1316740026" name="Text 22"/>
          <p:cNvSpPr/>
          <p:nvPr/>
        </p:nvSpPr>
        <p:spPr bwMode="auto">
          <a:xfrm>
            <a:off x="347472" y="413308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Offset dynamique calcule depasse la taille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de la valeur de la map (16 octets ici).</a:t>
            </a:r>
            <a:endParaRPr lang="en-US" sz="950"/>
          </a:p>
        </p:txBody>
      </p:sp>
      <p:sp>
        <p:nvSpPr>
          <p:cNvPr id="721146541" name="Shape 23"/>
          <p:cNvSpPr/>
          <p:nvPr/>
        </p:nvSpPr>
        <p:spPr bwMode="auto">
          <a:xfrm>
            <a:off x="4526280" y="3877056"/>
            <a:ext cx="4343400" cy="1060704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89421399" name="Text 24"/>
          <p:cNvSpPr/>
          <p:nvPr/>
        </p:nvSpPr>
        <p:spPr bwMode="auto">
          <a:xfrm>
            <a:off x="4590288" y="39136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Correction</a:t>
            </a:r>
            <a:endParaRPr lang="en-US" sz="900"/>
          </a:p>
        </p:txBody>
      </p:sp>
      <p:sp>
        <p:nvSpPr>
          <p:cNvPr id="1440657554" name="Text 25"/>
          <p:cNvSpPr/>
          <p:nvPr/>
        </p:nvSpPr>
        <p:spPr bwMode="auto">
          <a:xfrm>
            <a:off x="4590288" y="4133088"/>
            <a:ext cx="41879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Borner l'offset avant l'accès :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if (offset &gt;= sizeof(struct)) return 0;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458689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85053207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Exercice : provoquer et corriger un rejet</a:t>
            </a:r>
            <a:endParaRPr lang="en-US" sz="1800"/>
          </a:p>
        </p:txBody>
      </p:sp>
      <p:sp>
        <p:nvSpPr>
          <p:cNvPr id="890182072" name="Text 2"/>
          <p:cNvSpPr/>
          <p:nvPr/>
        </p:nvSpPr>
        <p:spPr bwMode="auto"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0D1B2A"/>
                </a:solidFill>
                <a:latin typeface="Arial"/>
                <a:ea typeface="Arial"/>
                <a:cs typeface="Arial"/>
              </a:rPr>
              <a:t>Objectif : provoquer volontairement un rejet du vérificateur, lire le message, corriger.</a:t>
            </a:r>
            <a:endParaRPr lang="en-US" sz="1100"/>
          </a:p>
        </p:txBody>
      </p:sp>
      <p:sp>
        <p:nvSpPr>
          <p:cNvPr id="1582791466" name="Shape 3"/>
          <p:cNvSpPr/>
          <p:nvPr/>
        </p:nvSpPr>
        <p:spPr bwMode="auto">
          <a:xfrm>
            <a:off x="274320" y="1115568"/>
            <a:ext cx="4160519" cy="3657600"/>
          </a:xfrm>
          <a:prstGeom prst="rect">
            <a:avLst/>
          </a:prstGeom>
          <a:solidFill>
            <a:srgbClr val="16213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81194045" name="Shape 4"/>
          <p:cNvSpPr/>
          <p:nvPr/>
        </p:nvSpPr>
        <p:spPr bwMode="auto">
          <a:xfrm>
            <a:off x="274320" y="1115568"/>
            <a:ext cx="4160519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54576086" name="Text 5"/>
          <p:cNvSpPr/>
          <p:nvPr/>
        </p:nvSpPr>
        <p:spPr bwMode="auto">
          <a:xfrm>
            <a:off x="347472" y="11155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prog_invalide.bpf.c</a:t>
            </a:r>
            <a:endParaRPr lang="en-US" sz="900"/>
          </a:p>
        </p:txBody>
      </p:sp>
      <p:sp>
        <p:nvSpPr>
          <p:cNvPr id="1958260892" name="Text 6"/>
          <p:cNvSpPr/>
          <p:nvPr/>
        </p:nvSpPr>
        <p:spPr bwMode="auto">
          <a:xfrm>
            <a:off x="347472" y="138988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SEC("kprobe/do_sys_open")</a:t>
            </a:r>
            <a:endParaRPr lang="en-US" sz="950"/>
          </a:p>
        </p:txBody>
      </p:sp>
      <p:sp>
        <p:nvSpPr>
          <p:cNvPr id="1869234856" name="Text 7"/>
          <p:cNvSpPr/>
          <p:nvPr/>
        </p:nvSpPr>
        <p:spPr bwMode="auto">
          <a:xfrm>
            <a:off x="347472" y="16824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int trace(struct pt_regs *ctx) {</a:t>
            </a:r>
            <a:endParaRPr lang="en-US" sz="950"/>
          </a:p>
        </p:txBody>
      </p:sp>
      <p:sp>
        <p:nvSpPr>
          <p:cNvPr id="333610732" name="Text 8"/>
          <p:cNvSpPr/>
          <p:nvPr/>
        </p:nvSpPr>
        <p:spPr bwMode="auto">
          <a:xfrm>
            <a:off x="347472" y="197510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    u32 k = 0;</a:t>
            </a:r>
            <a:endParaRPr lang="en-US" sz="950"/>
          </a:p>
        </p:txBody>
      </p:sp>
      <p:sp>
        <p:nvSpPr>
          <p:cNvPr id="2074138811" name="Text 9"/>
          <p:cNvSpPr/>
          <p:nvPr/>
        </p:nvSpPr>
        <p:spPr bwMode="auto">
          <a:xfrm>
            <a:off x="347472" y="22677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  u64 *v = bpf_map_lookup_elem(</a:t>
            </a:r>
            <a:endParaRPr lang="en-US" sz="950"/>
          </a:p>
        </p:txBody>
      </p:sp>
      <p:sp>
        <p:nvSpPr>
          <p:cNvPr id="940544657" name="Text 10"/>
          <p:cNvSpPr/>
          <p:nvPr/>
        </p:nvSpPr>
        <p:spPr bwMode="auto">
          <a:xfrm>
            <a:off x="347472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                 &amp;ma_map, &amp;k);</a:t>
            </a:r>
            <a:endParaRPr lang="en-US" sz="950"/>
          </a:p>
        </p:txBody>
      </p:sp>
      <p:sp>
        <p:nvSpPr>
          <p:cNvPr id="585173074" name="Text 11"/>
          <p:cNvSpPr/>
          <p:nvPr/>
        </p:nvSpPr>
        <p:spPr bwMode="auto">
          <a:xfrm>
            <a:off x="347472" y="285292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// PROBLEME : pas de test nul !</a:t>
            </a:r>
            <a:endParaRPr lang="en-US" sz="950"/>
          </a:p>
        </p:txBody>
      </p:sp>
      <p:sp>
        <p:nvSpPr>
          <p:cNvPr id="984591652" name="Text 12"/>
          <p:cNvSpPr/>
          <p:nvPr/>
        </p:nvSpPr>
        <p:spPr bwMode="auto">
          <a:xfrm>
            <a:off x="347472" y="3145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  *v = bpf_ktime_get_ns();</a:t>
            </a:r>
            <a:endParaRPr lang="en-US" sz="950"/>
          </a:p>
        </p:txBody>
      </p:sp>
      <p:sp>
        <p:nvSpPr>
          <p:cNvPr id="346236351" name="Text 13"/>
          <p:cNvSpPr/>
          <p:nvPr/>
        </p:nvSpPr>
        <p:spPr bwMode="auto">
          <a:xfrm>
            <a:off x="347472" y="343814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950"/>
          </a:p>
        </p:txBody>
      </p:sp>
      <p:sp>
        <p:nvSpPr>
          <p:cNvPr id="2002607927" name="Text 14"/>
          <p:cNvSpPr/>
          <p:nvPr/>
        </p:nvSpPr>
        <p:spPr bwMode="auto">
          <a:xfrm>
            <a:off x="347472" y="373075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6E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50"/>
          </a:p>
        </p:txBody>
      </p:sp>
      <p:sp>
        <p:nvSpPr>
          <p:cNvPr id="183352460" name="Shape 15"/>
          <p:cNvSpPr/>
          <p:nvPr/>
        </p:nvSpPr>
        <p:spPr bwMode="auto">
          <a:xfrm>
            <a:off x="4526280" y="1115568"/>
            <a:ext cx="4343400" cy="3657600"/>
          </a:xfrm>
          <a:prstGeom prst="rect">
            <a:avLst/>
          </a:prstGeom>
          <a:solidFill>
            <a:srgbClr val="F8F9FC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32082208" name="Text 16"/>
          <p:cNvSpPr/>
          <p:nvPr/>
        </p:nvSpPr>
        <p:spPr bwMode="auto">
          <a:xfrm>
            <a:off x="461772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6FBF"/>
                </a:solidFill>
                <a:latin typeface="Arial"/>
                <a:ea typeface="Arial"/>
                <a:cs typeface="Arial"/>
              </a:rPr>
              <a:t>Étapes a suivre :</a:t>
            </a:r>
            <a:endParaRPr lang="en-US" sz="1100"/>
          </a:p>
        </p:txBody>
      </p:sp>
      <p:sp>
        <p:nvSpPr>
          <p:cNvPr id="1089674694" name="Shape 17"/>
          <p:cNvSpPr/>
          <p:nvPr/>
        </p:nvSpPr>
        <p:spPr bwMode="auto">
          <a:xfrm>
            <a:off x="4617720" y="1499616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066566683" name="Text 18"/>
          <p:cNvSpPr/>
          <p:nvPr/>
        </p:nvSpPr>
        <p:spPr bwMode="auto">
          <a:xfrm>
            <a:off x="4617720" y="1499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1</a:t>
            </a:r>
            <a:endParaRPr lang="en-US" sz="1300"/>
          </a:p>
        </p:txBody>
      </p:sp>
      <p:sp>
        <p:nvSpPr>
          <p:cNvPr id="1921991673" name="Text 19"/>
          <p:cNvSpPr/>
          <p:nvPr/>
        </p:nvSpPr>
        <p:spPr bwMode="auto">
          <a:xfrm>
            <a:off x="5047488" y="14996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Créer le fichier prog_invalide.bpf.c</a:t>
            </a:r>
            <a:endParaRPr lang="en-US" sz="900"/>
          </a:p>
        </p:txBody>
      </p:sp>
      <p:sp>
        <p:nvSpPr>
          <p:cNvPr id="1785285050" name="Shape 20"/>
          <p:cNvSpPr/>
          <p:nvPr/>
        </p:nvSpPr>
        <p:spPr bwMode="auto">
          <a:xfrm>
            <a:off x="4617720" y="1975104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560648917" name="Text 21"/>
          <p:cNvSpPr/>
          <p:nvPr/>
        </p:nvSpPr>
        <p:spPr bwMode="auto">
          <a:xfrm>
            <a:off x="4617720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1300"/>
          </a:p>
        </p:txBody>
      </p:sp>
      <p:sp>
        <p:nvSpPr>
          <p:cNvPr id="1400627990" name="Text 22"/>
          <p:cNvSpPr/>
          <p:nvPr/>
        </p:nvSpPr>
        <p:spPr bwMode="auto">
          <a:xfrm>
            <a:off x="5047488" y="197510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Compiler :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clang -O2 -target bpf -c prog_invalide.bpf.c -o prog.bpf.o</a:t>
            </a:r>
            <a:endParaRPr lang="en-US" sz="900"/>
          </a:p>
        </p:txBody>
      </p:sp>
      <p:sp>
        <p:nvSpPr>
          <p:cNvPr id="1590366865" name="Shape 23"/>
          <p:cNvSpPr/>
          <p:nvPr/>
        </p:nvSpPr>
        <p:spPr bwMode="auto">
          <a:xfrm>
            <a:off x="4617720" y="2450592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529737391" name="Text 24"/>
          <p:cNvSpPr/>
          <p:nvPr/>
        </p:nvSpPr>
        <p:spPr bwMode="auto">
          <a:xfrm>
            <a:off x="4617720" y="2450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1300"/>
          </a:p>
        </p:txBody>
      </p:sp>
      <p:sp>
        <p:nvSpPr>
          <p:cNvPr id="1120830521" name="Text 25"/>
          <p:cNvSpPr/>
          <p:nvPr/>
        </p:nvSpPr>
        <p:spPr bwMode="auto">
          <a:xfrm>
            <a:off x="5047488" y="24505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Tenter le chargement :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sudo bpftool prog load prog.bpf.o /sys/fs/bpf/test 2&gt;&amp;1</a:t>
            </a:r>
            <a:endParaRPr lang="en-US" sz="900"/>
          </a:p>
        </p:txBody>
      </p:sp>
      <p:sp>
        <p:nvSpPr>
          <p:cNvPr id="1375486440" name="Shape 26"/>
          <p:cNvSpPr/>
          <p:nvPr/>
        </p:nvSpPr>
        <p:spPr bwMode="auto">
          <a:xfrm>
            <a:off x="4617720" y="2926080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2060282594" name="Text 27"/>
          <p:cNvSpPr/>
          <p:nvPr/>
        </p:nvSpPr>
        <p:spPr bwMode="auto">
          <a:xfrm>
            <a:off x="461772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4</a:t>
            </a:r>
            <a:endParaRPr lang="en-US" sz="1300"/>
          </a:p>
        </p:txBody>
      </p:sp>
      <p:sp>
        <p:nvSpPr>
          <p:cNvPr id="589812721" name="Text 28"/>
          <p:cNvSpPr/>
          <p:nvPr/>
        </p:nvSpPr>
        <p:spPr bwMode="auto">
          <a:xfrm>
            <a:off x="5047488" y="2926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Lire le message d'erreur.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Identifier le registre et la raison.</a:t>
            </a:r>
            <a:endParaRPr lang="en-US" sz="900"/>
          </a:p>
        </p:txBody>
      </p:sp>
      <p:sp>
        <p:nvSpPr>
          <p:cNvPr id="243041295" name="Shape 29"/>
          <p:cNvSpPr/>
          <p:nvPr/>
        </p:nvSpPr>
        <p:spPr bwMode="auto">
          <a:xfrm>
            <a:off x="4617720" y="3401568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1019924814" name="Text 30"/>
          <p:cNvSpPr/>
          <p:nvPr/>
        </p:nvSpPr>
        <p:spPr bwMode="auto">
          <a:xfrm>
            <a:off x="46177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5</a:t>
            </a:r>
            <a:endParaRPr lang="en-US" sz="1300"/>
          </a:p>
        </p:txBody>
      </p:sp>
      <p:sp>
        <p:nvSpPr>
          <p:cNvPr id="1172113081" name="Text 31"/>
          <p:cNvSpPr/>
          <p:nvPr/>
        </p:nvSpPr>
        <p:spPr bwMode="auto">
          <a:xfrm>
            <a:off x="5047488" y="34015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Corriger : ajouter if (!v) return 0;</a:t>
            </a:r>
            <a:endParaRPr lang="en-US" sz="900"/>
          </a:p>
        </p:txBody>
      </p:sp>
      <p:sp>
        <p:nvSpPr>
          <p:cNvPr id="2120877698" name="Shape 32"/>
          <p:cNvSpPr/>
          <p:nvPr/>
        </p:nvSpPr>
        <p:spPr bwMode="auto">
          <a:xfrm>
            <a:off x="4617720" y="3877056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839890604" name="Text 33"/>
          <p:cNvSpPr/>
          <p:nvPr/>
        </p:nvSpPr>
        <p:spPr bwMode="auto">
          <a:xfrm>
            <a:off x="4617720" y="3877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6</a:t>
            </a:r>
            <a:endParaRPr lang="en-US" sz="1300"/>
          </a:p>
        </p:txBody>
      </p:sp>
      <p:sp>
        <p:nvSpPr>
          <p:cNvPr id="1503094115" name="Text 34"/>
          <p:cNvSpPr/>
          <p:nvPr/>
        </p:nvSpPr>
        <p:spPr bwMode="auto">
          <a:xfrm>
            <a:off x="5047488" y="38770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Recompiler et recharger : vérifier que l'erreur disparait.</a:t>
            </a:r>
            <a:endParaRPr lang="en-US" sz="900"/>
          </a:p>
        </p:txBody>
      </p:sp>
      <p:sp>
        <p:nvSpPr>
          <p:cNvPr id="583333772" name="Shape 35"/>
          <p:cNvSpPr/>
          <p:nvPr/>
        </p:nvSpPr>
        <p:spPr bwMode="auto">
          <a:xfrm>
            <a:off x="4617720" y="4352544"/>
            <a:ext cx="347472" cy="347472"/>
          </a:xfrm>
          <a:prstGeom prst="ellipse">
            <a:avLst/>
          </a:prstGeom>
          <a:solidFill>
            <a:srgbClr val="1E6FBF"/>
          </a:solidFill>
          <a:ln/>
        </p:spPr>
      </p:sp>
      <p:sp>
        <p:nvSpPr>
          <p:cNvPr id="705053494" name="Text 36"/>
          <p:cNvSpPr/>
          <p:nvPr/>
        </p:nvSpPr>
        <p:spPr bwMode="auto">
          <a:xfrm>
            <a:off x="4617720" y="4352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7</a:t>
            </a:r>
            <a:endParaRPr lang="en-US" sz="1300"/>
          </a:p>
        </p:txBody>
      </p:sp>
      <p:sp>
        <p:nvSpPr>
          <p:cNvPr id="1641947989" name="Text 37"/>
          <p:cNvSpPr/>
          <p:nvPr/>
        </p:nvSpPr>
        <p:spPr bwMode="auto">
          <a:xfrm>
            <a:off x="5047488" y="43525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Nettoyer : sudo rm /sys/fs/bpf/test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81088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6064100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BLOC 5</a:t>
            </a:r>
            <a:endParaRPr lang="en-US" sz="1100"/>
          </a:p>
        </p:txBody>
      </p:sp>
      <p:sp>
        <p:nvSpPr>
          <p:cNvPr id="147852870" name="Text 2"/>
          <p:cNvSpPr/>
          <p:nvPr/>
        </p:nvSpPr>
        <p:spPr bwMode="auto">
          <a:xfrm>
            <a:off x="274320" y="8229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Environnement de</a:t>
            </a:r>
            <a:endParaRPr lang="en-US" sz="4400"/>
          </a:p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developpement</a:t>
            </a:r>
            <a:endParaRPr lang="en-US" sz="4400"/>
          </a:p>
        </p:txBody>
      </p:sp>
      <p:sp>
        <p:nvSpPr>
          <p:cNvPr id="1460436831" name="Text 3"/>
          <p:cNvSpPr/>
          <p:nvPr/>
        </p:nvSpPr>
        <p:spPr bwMode="auto">
          <a:xfrm>
            <a:off x="274320" y="2743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00C8FF"/>
                </a:solidFill>
                <a:latin typeface="Arial"/>
                <a:ea typeface="Arial"/>
                <a:cs typeface="Arial"/>
              </a:rPr>
              <a:t>libbpf • Makefile • vmlinux.h • Frameworks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241115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04764550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Structure d'un projet libbpf minimal</a:t>
            </a:r>
            <a:endParaRPr lang="en-US" sz="1800"/>
          </a:p>
        </p:txBody>
      </p:sp>
      <p:sp>
        <p:nvSpPr>
          <p:cNvPr id="1166945609" name="Shape 2"/>
          <p:cNvSpPr/>
          <p:nvPr/>
        </p:nvSpPr>
        <p:spPr bwMode="auto">
          <a:xfrm>
            <a:off x="274320" y="749808"/>
            <a:ext cx="4023360" cy="2743200"/>
          </a:xfrm>
          <a:prstGeom prst="rect">
            <a:avLst/>
          </a:prstGeom>
          <a:solidFill>
            <a:srgbClr val="162130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1511866" name="Text 3"/>
          <p:cNvSpPr/>
          <p:nvPr/>
        </p:nvSpPr>
        <p:spPr bwMode="auto">
          <a:xfrm>
            <a:off x="402336" y="859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EAF4FC"/>
                </a:solidFill>
                <a:latin typeface="Consolas"/>
                <a:ea typeface="Consolas"/>
                <a:cs typeface="Consolas"/>
              </a:rPr>
              <a:t>mon_programme/</a:t>
            </a:r>
            <a:endParaRPr lang="en-US" sz="1200"/>
          </a:p>
        </p:txBody>
      </p:sp>
      <p:sp>
        <p:nvSpPr>
          <p:cNvPr id="888206573" name="Text 4"/>
          <p:cNvSpPr/>
          <p:nvPr/>
        </p:nvSpPr>
        <p:spPr bwMode="auto">
          <a:xfrm>
            <a:off x="402336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  |-- prog.bpf.c</a:t>
            </a:r>
            <a:endParaRPr lang="en-US" sz="1200"/>
          </a:p>
        </p:txBody>
      </p:sp>
      <p:sp>
        <p:nvSpPr>
          <p:cNvPr id="1602547490" name="Text 5"/>
          <p:cNvSpPr/>
          <p:nvPr/>
        </p:nvSpPr>
        <p:spPr bwMode="auto">
          <a:xfrm>
            <a:off x="402336" y="17007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  |-- prog.c</a:t>
            </a:r>
            <a:endParaRPr lang="en-US" sz="1200"/>
          </a:p>
        </p:txBody>
      </p:sp>
      <p:sp>
        <p:nvSpPr>
          <p:cNvPr id="1717724735" name="Text 6"/>
          <p:cNvSpPr/>
          <p:nvPr/>
        </p:nvSpPr>
        <p:spPr bwMode="auto">
          <a:xfrm>
            <a:off x="402336" y="2121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|-- vmlinux.h</a:t>
            </a:r>
            <a:endParaRPr lang="en-US" sz="1200"/>
          </a:p>
        </p:txBody>
      </p:sp>
      <p:sp>
        <p:nvSpPr>
          <p:cNvPr id="1754210114" name="Text 7"/>
          <p:cNvSpPr/>
          <p:nvPr/>
        </p:nvSpPr>
        <p:spPr bwMode="auto">
          <a:xfrm>
            <a:off x="402336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  `-- Makefile</a:t>
            </a:r>
            <a:endParaRPr lang="en-US" sz="1200"/>
          </a:p>
        </p:txBody>
      </p:sp>
      <p:sp>
        <p:nvSpPr>
          <p:cNvPr id="1400961378" name="Shape 8"/>
          <p:cNvSpPr/>
          <p:nvPr/>
        </p:nvSpPr>
        <p:spPr bwMode="auto">
          <a:xfrm>
            <a:off x="4434840" y="1152144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85682082" name="Text 9"/>
          <p:cNvSpPr/>
          <p:nvPr/>
        </p:nvSpPr>
        <p:spPr bwMode="auto">
          <a:xfrm>
            <a:off x="4526280" y="11978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prog.bpf.c</a:t>
            </a:r>
            <a:endParaRPr lang="en-US" sz="1100"/>
          </a:p>
        </p:txBody>
      </p:sp>
      <p:sp>
        <p:nvSpPr>
          <p:cNvPr id="1798547924" name="Text 10"/>
          <p:cNvSpPr/>
          <p:nvPr/>
        </p:nvSpPr>
        <p:spPr bwMode="auto">
          <a:xfrm>
            <a:off x="4526280" y="1444752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Code kernel : compile avec clang -target bpf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S'exécute dans le kernel eBPF</a:t>
            </a:r>
            <a:endParaRPr lang="en-US" sz="950"/>
          </a:p>
        </p:txBody>
      </p:sp>
      <p:sp>
        <p:nvSpPr>
          <p:cNvPr id="1078525444" name="Shape 11"/>
          <p:cNvSpPr/>
          <p:nvPr/>
        </p:nvSpPr>
        <p:spPr bwMode="auto">
          <a:xfrm>
            <a:off x="4434840" y="1572768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97160020" name="Text 12"/>
          <p:cNvSpPr/>
          <p:nvPr/>
        </p:nvSpPr>
        <p:spPr bwMode="auto">
          <a:xfrm>
            <a:off x="4526280" y="16184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prog.c</a:t>
            </a:r>
            <a:endParaRPr lang="en-US" sz="1100"/>
          </a:p>
        </p:txBody>
      </p:sp>
      <p:sp>
        <p:nvSpPr>
          <p:cNvPr id="1303403234" name="Text 13"/>
          <p:cNvSpPr/>
          <p:nvPr/>
        </p:nvSpPr>
        <p:spPr bwMode="auto">
          <a:xfrm>
            <a:off x="4526280" y="1865376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Code userspace : charge le programme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Lit les maps : affiche les événements</a:t>
            </a:r>
            <a:endParaRPr lang="en-US" sz="950"/>
          </a:p>
        </p:txBody>
      </p:sp>
      <p:sp>
        <p:nvSpPr>
          <p:cNvPr id="1311159835" name="Shape 14"/>
          <p:cNvSpPr/>
          <p:nvPr/>
        </p:nvSpPr>
        <p:spPr bwMode="auto">
          <a:xfrm>
            <a:off x="4434840" y="1993392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86689227" name="Text 15"/>
          <p:cNvSpPr/>
          <p:nvPr/>
        </p:nvSpPr>
        <p:spPr bwMode="auto">
          <a:xfrm>
            <a:off x="4526280" y="203911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vmlinux.h</a:t>
            </a:r>
            <a:endParaRPr lang="en-US" sz="1100"/>
          </a:p>
        </p:txBody>
      </p:sp>
      <p:sp>
        <p:nvSpPr>
          <p:cNvPr id="2053474145" name="Text 16"/>
          <p:cNvSpPr/>
          <p:nvPr/>
        </p:nvSpPr>
        <p:spPr bwMode="auto">
          <a:xfrm>
            <a:off x="4526280" y="228600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Types kernel generes depuis BTF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Remplace tous les #include &lt;linux/...&gt;</a:t>
            </a:r>
            <a:endParaRPr lang="en-US" sz="950"/>
          </a:p>
        </p:txBody>
      </p:sp>
      <p:sp>
        <p:nvSpPr>
          <p:cNvPr id="1891335346" name="Shape 17"/>
          <p:cNvSpPr/>
          <p:nvPr/>
        </p:nvSpPr>
        <p:spPr bwMode="auto">
          <a:xfrm>
            <a:off x="4434840" y="2414016"/>
            <a:ext cx="4434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37107078" name="Text 18"/>
          <p:cNvSpPr/>
          <p:nvPr/>
        </p:nvSpPr>
        <p:spPr bwMode="auto">
          <a:xfrm>
            <a:off x="4526280" y="2459735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8B5CF6"/>
                </a:solidFill>
                <a:latin typeface="Consolas"/>
                <a:ea typeface="Consolas"/>
                <a:cs typeface="Consolas"/>
              </a:rPr>
              <a:t>Makefile</a:t>
            </a:r>
            <a:endParaRPr lang="en-US" sz="1100"/>
          </a:p>
        </p:txBody>
      </p:sp>
      <p:sp>
        <p:nvSpPr>
          <p:cNvPr id="1620532561" name="Text 19"/>
          <p:cNvSpPr/>
          <p:nvPr/>
        </p:nvSpPr>
        <p:spPr bwMode="auto">
          <a:xfrm>
            <a:off x="4526280" y="2706624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Automatise la compilation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Arial"/>
                <a:ea typeface="Arial"/>
                <a:cs typeface="Arial"/>
              </a:rPr>
              <a:t>Gere les dependances entre fichiers</a:t>
            </a:r>
            <a:endParaRPr lang="en-US" sz="950"/>
          </a:p>
        </p:txBody>
      </p:sp>
      <p:sp>
        <p:nvSpPr>
          <p:cNvPr id="1036318777" name="Shape 20"/>
          <p:cNvSpPr/>
          <p:nvPr/>
        </p:nvSpPr>
        <p:spPr bwMode="auto">
          <a:xfrm>
            <a:off x="274320" y="3566160"/>
            <a:ext cx="8595360" cy="1280160"/>
          </a:xfrm>
          <a:prstGeom prst="rect">
            <a:avLst/>
          </a:prstGeom>
          <a:solidFill>
            <a:srgbClr val="16213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50243393" name="Text 21"/>
          <p:cNvSpPr/>
          <p:nvPr/>
        </p:nvSpPr>
        <p:spPr bwMode="auto">
          <a:xfrm>
            <a:off x="402336" y="36210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FA8"/>
                </a:solidFill>
                <a:latin typeface="Consolas"/>
                <a:ea typeface="Consolas"/>
                <a:cs typeface="Consolas"/>
              </a:rPr>
              <a:t># Générer vmlinux.h (une fois par machine)</a:t>
            </a:r>
            <a:endParaRPr lang="en-US" sz="1000"/>
          </a:p>
        </p:txBody>
      </p:sp>
      <p:sp>
        <p:nvSpPr>
          <p:cNvPr id="347576764" name="Text 22"/>
          <p:cNvSpPr/>
          <p:nvPr/>
        </p:nvSpPr>
        <p:spPr bwMode="auto">
          <a:xfrm>
            <a:off x="402336" y="3877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bpftool btf dump file /sys/kernel/btf/vmlinux format c &gt; vmlinux.h</a:t>
            </a:r>
            <a:endParaRPr lang="en-US" sz="1100"/>
          </a:p>
        </p:txBody>
      </p:sp>
      <p:sp>
        <p:nvSpPr>
          <p:cNvPr id="2087956545" name="Text 23"/>
          <p:cNvSpPr/>
          <p:nvPr/>
        </p:nvSpPr>
        <p:spPr bwMode="auto">
          <a:xfrm>
            <a:off x="402336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8FA8"/>
                </a:solidFill>
                <a:latin typeface="Consolas"/>
                <a:ea typeface="Consolas"/>
                <a:cs typeface="Consolas"/>
              </a:rPr>
              <a:t># Compiler le code eBPF (target bpf : OBLIGATOIRE)</a:t>
            </a:r>
            <a:endParaRPr lang="en-US" sz="1000"/>
          </a:p>
        </p:txBody>
      </p:sp>
      <p:sp>
        <p:nvSpPr>
          <p:cNvPr id="1571654998" name="Text 24"/>
          <p:cNvSpPr/>
          <p:nvPr/>
        </p:nvSpPr>
        <p:spPr bwMode="auto">
          <a:xfrm>
            <a:off x="402336" y="4389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C8FF"/>
                </a:solidFill>
                <a:latin typeface="Consolas"/>
                <a:ea typeface="Consolas"/>
                <a:cs typeface="Consolas"/>
              </a:rPr>
              <a:t>clang -O2 -target bpf -D__TARGET_ARCH_x86 -I. -c prog.bpf.c -o prog.bpf.o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4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94947" name="Shape 0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69823924" name="Text 1"/>
          <p:cNvSpPr/>
          <p:nvPr/>
        </p:nvSpPr>
        <p:spPr bwMode="auto"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Choisir son framework</a:t>
            </a:r>
            <a:endParaRPr lang="en-US" sz="1800"/>
          </a:p>
        </p:txBody>
      </p:sp>
      <p:sp>
        <p:nvSpPr>
          <p:cNvPr id="954919632" name="Shape 2"/>
          <p:cNvSpPr/>
          <p:nvPr/>
        </p:nvSpPr>
        <p:spPr bwMode="auto">
          <a:xfrm>
            <a:off x="27432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82524203" name="Shape 3"/>
          <p:cNvSpPr/>
          <p:nvPr/>
        </p:nvSpPr>
        <p:spPr bwMode="auto">
          <a:xfrm>
            <a:off x="274320" y="749808"/>
            <a:ext cx="1627632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26349095" name="Text 4"/>
          <p:cNvSpPr/>
          <p:nvPr/>
        </p:nvSpPr>
        <p:spPr bwMode="auto">
          <a:xfrm>
            <a:off x="32918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bpftrace</a:t>
            </a:r>
            <a:endParaRPr lang="en-US" sz="1100"/>
          </a:p>
        </p:txBody>
      </p:sp>
      <p:sp>
        <p:nvSpPr>
          <p:cNvPr id="2024552522" name="Text 5"/>
          <p:cNvSpPr/>
          <p:nvPr/>
        </p:nvSpPr>
        <p:spPr bwMode="auto">
          <a:xfrm>
            <a:off x="32918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028090"/>
                </a:solidFill>
                <a:latin typeface="Arial"/>
                <a:ea typeface="Arial"/>
                <a:cs typeface="Arial"/>
              </a:rPr>
              <a:t>Langage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 b="1" i="1">
                <a:solidFill>
                  <a:srgbClr val="028090"/>
                </a:solidFill>
                <a:latin typeface="Arial"/>
                <a:ea typeface="Arial"/>
                <a:cs typeface="Arial"/>
              </a:rPr>
              <a:t>bpftrace</a:t>
            </a:r>
            <a:endParaRPr lang="en-US" sz="950"/>
          </a:p>
        </p:txBody>
      </p:sp>
      <p:sp>
        <p:nvSpPr>
          <p:cNvPr id="364021149" name="Text 6"/>
          <p:cNvSpPr/>
          <p:nvPr/>
        </p:nvSpPr>
        <p:spPr bwMode="auto">
          <a:xfrm>
            <a:off x="32918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+ Avantages</a:t>
            </a:r>
            <a:endParaRPr lang="en-US" sz="850"/>
          </a:p>
        </p:txBody>
      </p:sp>
      <p:sp>
        <p:nvSpPr>
          <p:cNvPr id="1630217185" name="Text 7"/>
          <p:cNvSpPr/>
          <p:nvPr/>
        </p:nvSpPr>
        <p:spPr bwMode="auto">
          <a:xfrm>
            <a:off x="32918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Exploration rapide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Debugging ad hoc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Formation et demos</a:t>
            </a:r>
            <a:endParaRPr lang="en-US" sz="900"/>
          </a:p>
        </p:txBody>
      </p:sp>
      <p:sp>
        <p:nvSpPr>
          <p:cNvPr id="219014036" name="Text 8"/>
          <p:cNvSpPr/>
          <p:nvPr/>
        </p:nvSpPr>
        <p:spPr bwMode="auto">
          <a:xfrm>
            <a:off x="32918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- Limites</a:t>
            </a:r>
            <a:endParaRPr lang="en-US" sz="850"/>
          </a:p>
        </p:txBody>
      </p:sp>
      <p:sp>
        <p:nvSpPr>
          <p:cNvPr id="622600995" name="Text 9"/>
          <p:cNvSpPr/>
          <p:nvPr/>
        </p:nvSpPr>
        <p:spPr bwMode="auto">
          <a:xfrm>
            <a:off x="32918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Ne pas utiliser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en production</a:t>
            </a:r>
            <a:endParaRPr lang="en-US" sz="900"/>
          </a:p>
        </p:txBody>
      </p:sp>
      <p:sp>
        <p:nvSpPr>
          <p:cNvPr id="1328903660" name="Shape 10"/>
          <p:cNvSpPr/>
          <p:nvPr/>
        </p:nvSpPr>
        <p:spPr bwMode="auto">
          <a:xfrm>
            <a:off x="201168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20728072" name="Shape 11"/>
          <p:cNvSpPr/>
          <p:nvPr/>
        </p:nvSpPr>
        <p:spPr bwMode="auto">
          <a:xfrm>
            <a:off x="2011680" y="749808"/>
            <a:ext cx="1627632" cy="365760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606586930" name="Text 12"/>
          <p:cNvSpPr/>
          <p:nvPr/>
        </p:nvSpPr>
        <p:spPr bwMode="auto">
          <a:xfrm>
            <a:off x="206654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libbpf + C</a:t>
            </a:r>
            <a:endParaRPr lang="en-US" sz="1100"/>
          </a:p>
        </p:txBody>
      </p:sp>
      <p:sp>
        <p:nvSpPr>
          <p:cNvPr id="310142125" name="Text 13"/>
          <p:cNvSpPr/>
          <p:nvPr/>
        </p:nvSpPr>
        <p:spPr bwMode="auto">
          <a:xfrm>
            <a:off x="206654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1E6FBF"/>
                </a:solidFill>
                <a:latin typeface="Arial"/>
                <a:ea typeface="Arial"/>
                <a:cs typeface="Arial"/>
              </a:rPr>
              <a:t>C99</a:t>
            </a:r>
            <a:endParaRPr lang="en-US" sz="950"/>
          </a:p>
        </p:txBody>
      </p:sp>
      <p:sp>
        <p:nvSpPr>
          <p:cNvPr id="1997428860" name="Text 14"/>
          <p:cNvSpPr/>
          <p:nvPr/>
        </p:nvSpPr>
        <p:spPr bwMode="auto">
          <a:xfrm>
            <a:off x="206654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+ Avantages</a:t>
            </a:r>
            <a:endParaRPr lang="en-US" sz="850"/>
          </a:p>
        </p:txBody>
      </p:sp>
      <p:sp>
        <p:nvSpPr>
          <p:cNvPr id="1550916502" name="Text 15"/>
          <p:cNvSpPr/>
          <p:nvPr/>
        </p:nvSpPr>
        <p:spPr bwMode="auto">
          <a:xfrm>
            <a:off x="206654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Controle total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Portabilite maximale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Bibliotheques partagees</a:t>
            </a:r>
            <a:endParaRPr lang="en-US" sz="900"/>
          </a:p>
        </p:txBody>
      </p:sp>
      <p:sp>
        <p:nvSpPr>
          <p:cNvPr id="867727490" name="Text 16"/>
          <p:cNvSpPr/>
          <p:nvPr/>
        </p:nvSpPr>
        <p:spPr bwMode="auto">
          <a:xfrm>
            <a:off x="206654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- Limites</a:t>
            </a:r>
            <a:endParaRPr lang="en-US" sz="850"/>
          </a:p>
        </p:txBody>
      </p:sp>
      <p:sp>
        <p:nvSpPr>
          <p:cNvPr id="1790470381" name="Text 17"/>
          <p:cNvSpPr/>
          <p:nvPr/>
        </p:nvSpPr>
        <p:spPr bwMode="auto">
          <a:xfrm>
            <a:off x="206654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Verbeux : demande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de la pratique C</a:t>
            </a:r>
            <a:endParaRPr lang="en-US" sz="900"/>
          </a:p>
        </p:txBody>
      </p:sp>
      <p:sp>
        <p:nvSpPr>
          <p:cNvPr id="1929574611" name="Shape 18"/>
          <p:cNvSpPr/>
          <p:nvPr/>
        </p:nvSpPr>
        <p:spPr bwMode="auto">
          <a:xfrm>
            <a:off x="2103120" y="3968496"/>
            <a:ext cx="1444752" cy="292608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402513303" name="Text 19"/>
          <p:cNvSpPr/>
          <p:nvPr/>
        </p:nvSpPr>
        <p:spPr bwMode="auto">
          <a:xfrm>
            <a:off x="2103120" y="3968496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RECOMMANDE prod</a:t>
            </a:r>
            <a:endParaRPr lang="en-US" sz="850"/>
          </a:p>
        </p:txBody>
      </p:sp>
      <p:sp>
        <p:nvSpPr>
          <p:cNvPr id="289954388" name="Shape 20"/>
          <p:cNvSpPr/>
          <p:nvPr/>
        </p:nvSpPr>
        <p:spPr bwMode="auto">
          <a:xfrm>
            <a:off x="374904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42339" name="Shape 21"/>
          <p:cNvSpPr/>
          <p:nvPr/>
        </p:nvSpPr>
        <p:spPr bwMode="auto">
          <a:xfrm>
            <a:off x="3749040" y="749808"/>
            <a:ext cx="1627632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70998336" name="Text 22"/>
          <p:cNvSpPr/>
          <p:nvPr/>
        </p:nvSpPr>
        <p:spPr bwMode="auto">
          <a:xfrm>
            <a:off x="380390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Aya</a:t>
            </a:r>
            <a:endParaRPr lang="en-US" sz="1100"/>
          </a:p>
        </p:txBody>
      </p:sp>
      <p:sp>
        <p:nvSpPr>
          <p:cNvPr id="1687332382" name="Text 23"/>
          <p:cNvSpPr/>
          <p:nvPr/>
        </p:nvSpPr>
        <p:spPr bwMode="auto">
          <a:xfrm>
            <a:off x="380390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8B5CF6"/>
                </a:solidFill>
                <a:latin typeface="Arial"/>
                <a:ea typeface="Arial"/>
                <a:cs typeface="Arial"/>
              </a:rPr>
              <a:t>Rust</a:t>
            </a:r>
            <a:endParaRPr lang="en-US" sz="950"/>
          </a:p>
        </p:txBody>
      </p:sp>
      <p:sp>
        <p:nvSpPr>
          <p:cNvPr id="1501775349" name="Text 24"/>
          <p:cNvSpPr/>
          <p:nvPr/>
        </p:nvSpPr>
        <p:spPr bwMode="auto">
          <a:xfrm>
            <a:off x="380390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+ Avantages</a:t>
            </a:r>
            <a:endParaRPr lang="en-US" sz="850"/>
          </a:p>
        </p:txBody>
      </p:sp>
      <p:sp>
        <p:nvSpPr>
          <p:cNvPr id="540319089" name="Text 25"/>
          <p:cNvSpPr/>
          <p:nvPr/>
        </p:nvSpPr>
        <p:spPr bwMode="auto">
          <a:xfrm>
            <a:off x="380390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Sécurité mémoire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Ecosysteme Cargo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Nouveaux projets Rust</a:t>
            </a:r>
            <a:endParaRPr lang="en-US" sz="900"/>
          </a:p>
        </p:txBody>
      </p:sp>
      <p:sp>
        <p:nvSpPr>
          <p:cNvPr id="916351383" name="Text 26"/>
          <p:cNvSpPr/>
          <p:nvPr/>
        </p:nvSpPr>
        <p:spPr bwMode="auto">
          <a:xfrm>
            <a:off x="380390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- Limites</a:t>
            </a:r>
            <a:endParaRPr lang="en-US" sz="850"/>
          </a:p>
        </p:txBody>
      </p:sp>
      <p:sp>
        <p:nvSpPr>
          <p:cNvPr id="1616234634" name="Text 27"/>
          <p:cNvSpPr/>
          <p:nvPr/>
        </p:nvSpPr>
        <p:spPr bwMode="auto">
          <a:xfrm>
            <a:off x="380390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Nécessité de maîtriser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Rust et les lifetimes</a:t>
            </a:r>
            <a:endParaRPr lang="en-US" sz="900"/>
          </a:p>
        </p:txBody>
      </p:sp>
      <p:sp>
        <p:nvSpPr>
          <p:cNvPr id="1388971241" name="Shape 28"/>
          <p:cNvSpPr/>
          <p:nvPr/>
        </p:nvSpPr>
        <p:spPr bwMode="auto">
          <a:xfrm>
            <a:off x="548640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14980178" name="Shape 29"/>
          <p:cNvSpPr/>
          <p:nvPr/>
        </p:nvSpPr>
        <p:spPr bwMode="auto">
          <a:xfrm>
            <a:off x="5486400" y="749808"/>
            <a:ext cx="1627632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8776168" name="Text 30"/>
          <p:cNvSpPr/>
          <p:nvPr/>
        </p:nvSpPr>
        <p:spPr bwMode="auto">
          <a:xfrm>
            <a:off x="554126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ebpf-go</a:t>
            </a:r>
            <a:endParaRPr lang="en-US" sz="1100"/>
          </a:p>
        </p:txBody>
      </p:sp>
      <p:sp>
        <p:nvSpPr>
          <p:cNvPr id="999132052" name="Text 31"/>
          <p:cNvSpPr/>
          <p:nvPr/>
        </p:nvSpPr>
        <p:spPr bwMode="auto">
          <a:xfrm>
            <a:off x="554126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22C55E"/>
                </a:solidFill>
                <a:latin typeface="Arial"/>
                <a:ea typeface="Arial"/>
                <a:cs typeface="Arial"/>
              </a:rPr>
              <a:t>Go</a:t>
            </a:r>
            <a:endParaRPr lang="en-US" sz="950"/>
          </a:p>
        </p:txBody>
      </p:sp>
      <p:sp>
        <p:nvSpPr>
          <p:cNvPr id="1030121252" name="Text 32"/>
          <p:cNvSpPr/>
          <p:nvPr/>
        </p:nvSpPr>
        <p:spPr bwMode="auto">
          <a:xfrm>
            <a:off x="554126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+ Avantages</a:t>
            </a:r>
            <a:endParaRPr lang="en-US" sz="850"/>
          </a:p>
        </p:txBody>
      </p:sp>
      <p:sp>
        <p:nvSpPr>
          <p:cNvPr id="1717975650" name="Text 33"/>
          <p:cNvSpPr/>
          <p:nvPr/>
        </p:nvSpPr>
        <p:spPr bwMode="auto">
          <a:xfrm>
            <a:off x="554126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Intégration dans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un daemon Go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Tooling Cloud Native</a:t>
            </a:r>
            <a:endParaRPr lang="en-US" sz="900"/>
          </a:p>
        </p:txBody>
      </p:sp>
      <p:sp>
        <p:nvSpPr>
          <p:cNvPr id="1686530496" name="Text 34"/>
          <p:cNvSpPr/>
          <p:nvPr/>
        </p:nvSpPr>
        <p:spPr bwMode="auto">
          <a:xfrm>
            <a:off x="554126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- Limites</a:t>
            </a:r>
            <a:endParaRPr lang="en-US" sz="850"/>
          </a:p>
        </p:txBody>
      </p:sp>
      <p:sp>
        <p:nvSpPr>
          <p:cNvPr id="397866142" name="Text 35"/>
          <p:cNvSpPr/>
          <p:nvPr/>
        </p:nvSpPr>
        <p:spPr bwMode="auto">
          <a:xfrm>
            <a:off x="554126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Moins de controle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que libbpf pur</a:t>
            </a:r>
            <a:endParaRPr lang="en-US" sz="900"/>
          </a:p>
        </p:txBody>
      </p:sp>
      <p:sp>
        <p:nvSpPr>
          <p:cNvPr id="451554423" name="Shape 36"/>
          <p:cNvSpPr/>
          <p:nvPr/>
        </p:nvSpPr>
        <p:spPr bwMode="auto">
          <a:xfrm>
            <a:off x="7223760" y="749808"/>
            <a:ext cx="16276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20972908" name="Shape 37"/>
          <p:cNvSpPr/>
          <p:nvPr/>
        </p:nvSpPr>
        <p:spPr bwMode="auto">
          <a:xfrm>
            <a:off x="7223760" y="749808"/>
            <a:ext cx="162763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93152446" name="Text 38"/>
          <p:cNvSpPr/>
          <p:nvPr/>
        </p:nvSpPr>
        <p:spPr bwMode="auto">
          <a:xfrm>
            <a:off x="7278624" y="74980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bcc + Python</a:t>
            </a:r>
            <a:endParaRPr lang="en-US" sz="1100"/>
          </a:p>
        </p:txBody>
      </p:sp>
      <p:sp>
        <p:nvSpPr>
          <p:cNvPr id="1910834828" name="Text 39"/>
          <p:cNvSpPr/>
          <p:nvPr/>
        </p:nvSpPr>
        <p:spPr bwMode="auto">
          <a:xfrm>
            <a:off x="7278624" y="1170432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i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Python + C</a:t>
            </a:r>
            <a:endParaRPr lang="en-US" sz="950"/>
          </a:p>
          <a:p>
            <a:pPr marL="0" indent="0">
              <a:buNone/>
              <a:defRPr/>
            </a:pPr>
            <a:r>
              <a:rPr lang="en-US" sz="950" b="1" i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inline</a:t>
            </a:r>
            <a:endParaRPr lang="en-US" sz="950"/>
          </a:p>
        </p:txBody>
      </p:sp>
      <p:sp>
        <p:nvSpPr>
          <p:cNvPr id="1062630616" name="Text 40"/>
          <p:cNvSpPr/>
          <p:nvPr/>
        </p:nvSpPr>
        <p:spPr bwMode="auto">
          <a:xfrm>
            <a:off x="7278624" y="1664208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+ Avantages</a:t>
            </a:r>
            <a:endParaRPr lang="en-US" sz="850"/>
          </a:p>
        </p:txBody>
      </p:sp>
      <p:sp>
        <p:nvSpPr>
          <p:cNvPr id="1764460071" name="Text 41"/>
          <p:cNvSpPr/>
          <p:nvPr/>
        </p:nvSpPr>
        <p:spPr bwMode="auto">
          <a:xfrm>
            <a:off x="7278624" y="1901952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Prototypage rapide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Documentation riche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Communaute large</a:t>
            </a:r>
            <a:endParaRPr lang="en-US" sz="900"/>
          </a:p>
        </p:txBody>
      </p:sp>
      <p:sp>
        <p:nvSpPr>
          <p:cNvPr id="2125679860" name="Text 42"/>
          <p:cNvSpPr/>
          <p:nvPr/>
        </p:nvSpPr>
        <p:spPr bwMode="auto">
          <a:xfrm>
            <a:off x="7278624" y="2871216"/>
            <a:ext cx="1517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- Limites</a:t>
            </a:r>
            <a:endParaRPr lang="en-US" sz="850"/>
          </a:p>
        </p:txBody>
      </p:sp>
      <p:sp>
        <p:nvSpPr>
          <p:cNvPr id="1490010618" name="Text 43"/>
          <p:cNvSpPr/>
          <p:nvPr/>
        </p:nvSpPr>
        <p:spPr bwMode="auto">
          <a:xfrm>
            <a:off x="7278624" y="3108960"/>
            <a:ext cx="1517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Overhead LLVM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</a:rPr>
              <a:t>au chargement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510406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56941112" name="Text 1"/>
          <p:cNvSpPr/>
          <p:nvPr/>
        </p:nvSpPr>
        <p:spPr bwMode="auto"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rgbClr val="00C8FF"/>
                </a:solidFill>
                <a:latin typeface="Arial"/>
                <a:ea typeface="Arial"/>
                <a:cs typeface="Arial"/>
              </a:rPr>
              <a:t>SYNTHESE</a:t>
            </a:r>
            <a:endParaRPr lang="en-US" sz="1100"/>
          </a:p>
        </p:txBody>
      </p:sp>
      <p:sp>
        <p:nvSpPr>
          <p:cNvPr id="1793381893" name="Text 2"/>
          <p:cNvSpPr/>
          <p:nvPr/>
        </p:nvSpPr>
        <p:spPr bwMode="auto"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Ce qu'il faut retenir</a:t>
            </a:r>
            <a:endParaRPr lang="en-US" sz="2200"/>
          </a:p>
        </p:txBody>
      </p:sp>
      <p:sp>
        <p:nvSpPr>
          <p:cNvPr id="2118713727" name="Shape 3"/>
          <p:cNvSpPr/>
          <p:nvPr/>
        </p:nvSpPr>
        <p:spPr bwMode="auto">
          <a:xfrm>
            <a:off x="274320" y="1115568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85071092" name="Shape 4"/>
          <p:cNvSpPr/>
          <p:nvPr/>
        </p:nvSpPr>
        <p:spPr bwMode="auto">
          <a:xfrm>
            <a:off x="274320" y="1115568"/>
            <a:ext cx="914400" cy="113385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86617552" name="Text 5"/>
          <p:cNvSpPr/>
          <p:nvPr/>
        </p:nvSpPr>
        <p:spPr bwMode="auto">
          <a:xfrm>
            <a:off x="329184" y="1389888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eBPF</a:t>
            </a:r>
            <a:endParaRPr lang="en-US" sz="1100"/>
          </a:p>
        </p:txBody>
      </p:sp>
      <p:sp>
        <p:nvSpPr>
          <p:cNvPr id="80951331" name="Text 6"/>
          <p:cNvSpPr/>
          <p:nvPr/>
        </p:nvSpPr>
        <p:spPr bwMode="auto">
          <a:xfrm>
            <a:off x="1280160" y="1207008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Code dans le kernel : sécurisé par le vérificateur : JIT : zero overhead si inactif</a:t>
            </a:r>
            <a:endParaRPr lang="en-US" sz="1050"/>
          </a:p>
        </p:txBody>
      </p:sp>
      <p:sp>
        <p:nvSpPr>
          <p:cNvPr id="1837960961" name="Shape 7"/>
          <p:cNvSpPr/>
          <p:nvPr/>
        </p:nvSpPr>
        <p:spPr bwMode="auto">
          <a:xfrm>
            <a:off x="4709160" y="1115568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51038605" name="Shape 8"/>
          <p:cNvSpPr/>
          <p:nvPr/>
        </p:nvSpPr>
        <p:spPr bwMode="auto">
          <a:xfrm flipH="0" flipV="0">
            <a:off x="4709160" y="1115568"/>
            <a:ext cx="1075568" cy="11338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39356614" name="Text 9"/>
          <p:cNvSpPr/>
          <p:nvPr/>
        </p:nvSpPr>
        <p:spPr bwMode="auto">
          <a:xfrm flipH="0" flipV="0">
            <a:off x="4764024" y="1389887"/>
            <a:ext cx="10207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Vérificateur</a:t>
            </a:r>
            <a:endParaRPr lang="en-US" sz="1100"/>
          </a:p>
        </p:txBody>
      </p:sp>
      <p:sp>
        <p:nvSpPr>
          <p:cNvPr id="599335462" name="Text 10"/>
          <p:cNvSpPr/>
          <p:nvPr/>
        </p:nvSpPr>
        <p:spPr bwMode="auto">
          <a:xfrm>
            <a:off x="5715000" y="1207008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Une seule passe au chargement : garantit terminaison et sécurité mémoire</a:t>
            </a:r>
            <a:endParaRPr lang="en-US" sz="1050"/>
          </a:p>
        </p:txBody>
      </p:sp>
      <p:sp>
        <p:nvSpPr>
          <p:cNvPr id="818153467" name="Shape 11"/>
          <p:cNvSpPr/>
          <p:nvPr/>
        </p:nvSpPr>
        <p:spPr bwMode="auto">
          <a:xfrm>
            <a:off x="274320" y="2377440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1E6FBF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00250717" name="Shape 12"/>
          <p:cNvSpPr/>
          <p:nvPr/>
        </p:nvSpPr>
        <p:spPr bwMode="auto">
          <a:xfrm>
            <a:off x="274320" y="2377440"/>
            <a:ext cx="914400" cy="1133856"/>
          </a:xfrm>
          <a:prstGeom prst="rect">
            <a:avLst/>
          </a:prstGeom>
          <a:solidFill>
            <a:srgbClr val="1E6FBF"/>
          </a:solidFill>
          <a:ln/>
        </p:spPr>
      </p:sp>
      <p:sp>
        <p:nvSpPr>
          <p:cNvPr id="1623531470" name="Text 13"/>
          <p:cNvSpPr/>
          <p:nvPr/>
        </p:nvSpPr>
        <p:spPr bwMode="auto">
          <a:xfrm>
            <a:off x="329184" y="2651760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Maps</a:t>
            </a:r>
            <a:endParaRPr lang="en-US" sz="1100"/>
          </a:p>
        </p:txBody>
      </p:sp>
      <p:sp>
        <p:nvSpPr>
          <p:cNvPr id="1153346351" name="Text 14"/>
          <p:cNvSpPr/>
          <p:nvPr/>
        </p:nvSpPr>
        <p:spPr bwMode="auto">
          <a:xfrm>
            <a:off x="1280160" y="2468880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Seule facade de persistance : ring buffer pour les événements : hash pour les états</a:t>
            </a:r>
            <a:endParaRPr lang="en-US" sz="1050"/>
          </a:p>
        </p:txBody>
      </p:sp>
      <p:sp>
        <p:nvSpPr>
          <p:cNvPr id="1949480038" name="Shape 15"/>
          <p:cNvSpPr/>
          <p:nvPr/>
        </p:nvSpPr>
        <p:spPr bwMode="auto">
          <a:xfrm>
            <a:off x="4709160" y="2377440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68011030" name="Shape 16"/>
          <p:cNvSpPr/>
          <p:nvPr/>
        </p:nvSpPr>
        <p:spPr bwMode="auto">
          <a:xfrm>
            <a:off x="4709160" y="2377440"/>
            <a:ext cx="914400" cy="11338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7910231" name="Text 17"/>
          <p:cNvSpPr/>
          <p:nvPr/>
        </p:nvSpPr>
        <p:spPr bwMode="auto">
          <a:xfrm>
            <a:off x="4764024" y="2651760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BTF / CO-RE</a:t>
            </a:r>
            <a:endParaRPr lang="en-US" sz="1100"/>
          </a:p>
        </p:txBody>
      </p:sp>
      <p:sp>
        <p:nvSpPr>
          <p:cNvPr id="1223634269" name="Text 18"/>
          <p:cNvSpPr/>
          <p:nvPr/>
        </p:nvSpPr>
        <p:spPr bwMode="auto">
          <a:xfrm>
            <a:off x="5715000" y="2468880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Portabilité entre kernels : vérifier /sys/kernel/btf/vmlinux en premier</a:t>
            </a:r>
            <a:endParaRPr lang="en-US" sz="1050"/>
          </a:p>
        </p:txBody>
      </p:sp>
      <p:sp>
        <p:nvSpPr>
          <p:cNvPr id="233250190" name="Shape 19"/>
          <p:cNvSpPr/>
          <p:nvPr/>
        </p:nvSpPr>
        <p:spPr bwMode="auto">
          <a:xfrm>
            <a:off x="274320" y="3639312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26215003" name="Shape 20"/>
          <p:cNvSpPr/>
          <p:nvPr/>
        </p:nvSpPr>
        <p:spPr bwMode="auto">
          <a:xfrm>
            <a:off x="274320" y="3639312"/>
            <a:ext cx="914400" cy="11338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62588417" name="Text 21"/>
          <p:cNvSpPr/>
          <p:nvPr/>
        </p:nvSpPr>
        <p:spPr bwMode="auto">
          <a:xfrm>
            <a:off x="329184" y="3913632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bpftrace</a:t>
            </a:r>
            <a:endParaRPr lang="en-US" sz="1100"/>
          </a:p>
        </p:txBody>
      </p:sp>
      <p:sp>
        <p:nvSpPr>
          <p:cNvPr id="23115264" name="Text 22"/>
          <p:cNvSpPr/>
          <p:nvPr/>
        </p:nvSpPr>
        <p:spPr bwMode="auto">
          <a:xfrm>
            <a:off x="1280160" y="3730752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Exploration et prototypage rapide : pas adapte a la production persistante</a:t>
            </a:r>
            <a:endParaRPr lang="en-US" sz="1050"/>
          </a:p>
        </p:txBody>
      </p:sp>
      <p:sp>
        <p:nvSpPr>
          <p:cNvPr id="1662674194" name="Shape 23"/>
          <p:cNvSpPr/>
          <p:nvPr/>
        </p:nvSpPr>
        <p:spPr bwMode="auto">
          <a:xfrm>
            <a:off x="4709160" y="3639312"/>
            <a:ext cx="4224528" cy="1133856"/>
          </a:xfrm>
          <a:prstGeom prst="rect">
            <a:avLst/>
          </a:prstGeom>
          <a:solidFill>
            <a:srgbClr val="1A2E4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50341508" name="Shape 24"/>
          <p:cNvSpPr/>
          <p:nvPr/>
        </p:nvSpPr>
        <p:spPr bwMode="auto">
          <a:xfrm>
            <a:off x="4709160" y="3639312"/>
            <a:ext cx="914400" cy="113385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85537311" name="Text 25"/>
          <p:cNvSpPr/>
          <p:nvPr/>
        </p:nvSpPr>
        <p:spPr bwMode="auto">
          <a:xfrm>
            <a:off x="4764024" y="3913632"/>
            <a:ext cx="8046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D1B2A"/>
                </a:solidFill>
                <a:latin typeface="Arial Black"/>
                <a:ea typeface="Arial Black"/>
                <a:cs typeface="Arial Black"/>
              </a:rPr>
              <a:t>libbpf</a:t>
            </a:r>
            <a:endParaRPr lang="en-US" sz="1100"/>
          </a:p>
        </p:txBody>
      </p:sp>
      <p:sp>
        <p:nvSpPr>
          <p:cNvPr id="853732407" name="Text 26"/>
          <p:cNvSpPr/>
          <p:nvPr/>
        </p:nvSpPr>
        <p:spPr bwMode="auto">
          <a:xfrm>
            <a:off x="5715000" y="3730752"/>
            <a:ext cx="31089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F4FC"/>
                </a:solidFill>
                <a:latin typeface="Arial"/>
                <a:ea typeface="Arial"/>
                <a:cs typeface="Arial"/>
              </a:rPr>
              <a:t>Référence pour la production : CO-RE : Makefile + vmlinux.h</a:t>
            </a:r>
            <a:endParaRPr lang="en-US" sz="1050"/>
          </a:p>
        </p:txBody>
      </p:sp>
      <p:sp>
        <p:nvSpPr>
          <p:cNvPr id="1053679078" name="Text 27"/>
          <p:cNvSpPr/>
          <p:nvPr/>
        </p:nvSpPr>
        <p:spPr bwMode="auto">
          <a:xfrm>
            <a:off x="274320" y="471830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 i="1">
                <a:solidFill>
                  <a:srgbClr val="4A6785"/>
                </a:solidFill>
                <a:latin typeface="Arial"/>
                <a:ea typeface="Arial"/>
                <a:cs typeface="Arial"/>
              </a:rPr>
              <a:t>La suite : Parcours A (observabilité) • Parcours B (sécurité) • Parcours C (réseau bas niveau) • Parcours D (debugging)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Module 0 - Socle eBPF</dc:title>
  <dc:subject>PptxGenJS Presentation</dc:subject>
  <dc:creator>Formation eBPF</dc:creator>
  <cp:lastModifiedBy/>
  <cp:revision>2</cp:revision>
  <dcterms:created xsi:type="dcterms:W3CDTF">2026-04-05T12:10:25Z</dcterms:created>
  <dcterms:modified xsi:type="dcterms:W3CDTF">2026-04-05T12:18:47Z</dcterms:modified>
</cp:coreProperties>
</file>